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71" r:id="rId12"/>
    <p:sldId id="25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FEEF5-302E-4D7F-B6D3-6690B65C0D4D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10E24-6E61-42A2-92A0-A1D4CB1267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85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723565333_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3f723565333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76e8998d0_4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f76e8998d0_4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f76e8998d0_4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723565333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f723565333_2_11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g3f723565333_2_11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723565333_2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f723565333_2_13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g3f723565333_2_13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723565333_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3f723565333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22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7" descr="Kalyani Government Engineering College | Kalyani University Are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402" y="249034"/>
            <a:ext cx="738149" cy="718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7" descr="https://www.ieeesmc.org/wp-content/uploads/2020/01/SMCS_ID_4-12___17_Mar_202011-scaled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0319" y="6236853"/>
            <a:ext cx="1322100" cy="397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7" descr="IEEE logo transparent PNG - Stick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04683" y="352067"/>
            <a:ext cx="919151" cy="51253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7"/>
          <p:cNvSpPr txBox="1"/>
          <p:nvPr/>
        </p:nvSpPr>
        <p:spPr>
          <a:xfrm>
            <a:off x="1639373" y="806519"/>
            <a:ext cx="90524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and Generative AI-Based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Risk Prediction for Young Adults</a:t>
            </a:r>
          </a:p>
        </p:txBody>
      </p:sp>
      <p:sp>
        <p:nvSpPr>
          <p:cNvPr id="62" name="Google Shape;62;p17"/>
          <p:cNvSpPr txBox="1"/>
          <p:nvPr/>
        </p:nvSpPr>
        <p:spPr>
          <a:xfrm>
            <a:off x="2599576" y="2496881"/>
            <a:ext cx="7223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" sz="1600" b="1">
                <a:solidFill>
                  <a:srgbClr val="5B5B7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FINAL RESEARCH REPORT — SUBMISSION</a:t>
            </a:r>
            <a:endParaRPr sz="146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17"/>
          <p:cNvSpPr txBox="1"/>
          <p:nvPr/>
        </p:nvSpPr>
        <p:spPr>
          <a:xfrm>
            <a:off x="2553773" y="2988285"/>
            <a:ext cx="7315200" cy="31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" sz="1467">
                <a:solidFill>
                  <a:srgbClr val="5B5B7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IEEE Systems, Man, and Cybernetics Society Student Branch Chapter</a:t>
            </a:r>
            <a:endParaRPr sz="146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Google Shape;64;p17"/>
          <p:cNvSpPr txBox="1"/>
          <p:nvPr/>
        </p:nvSpPr>
        <p:spPr>
          <a:xfrm>
            <a:off x="2507973" y="3549690"/>
            <a:ext cx="7315200" cy="31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" sz="1467" dirty="0">
                <a:solidFill>
                  <a:srgbClr val="5B5B7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Kalyani Government Engineering College (KGEC)</a:t>
            </a:r>
            <a:endParaRPr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Google Shape;65;p17"/>
          <p:cNvSpPr txBox="1"/>
          <p:nvPr/>
        </p:nvSpPr>
        <p:spPr>
          <a:xfrm>
            <a:off x="1457540" y="4357851"/>
            <a:ext cx="5081600" cy="76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" sz="1467" dirty="0">
                <a:solidFill>
                  <a:srgbClr val="1E276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Submitted by</a:t>
            </a:r>
            <a:br>
              <a:rPr lang="en" sz="1467" dirty="0">
                <a:solidFill>
                  <a:srgbClr val="1E276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" sz="1467" dirty="0">
                <a:solidFill>
                  <a:srgbClr val="1E276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SOUREN MONDAL </a:t>
            </a:r>
          </a:p>
          <a:p>
            <a:pPr algn="ctr"/>
            <a:r>
              <a:rPr lang="en" sz="1467" dirty="0">
                <a:solidFill>
                  <a:srgbClr val="1E276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B.Tech CSE (AIML) Final Year </a:t>
            </a:r>
            <a:endParaRPr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Google Shape;66;p17"/>
          <p:cNvSpPr txBox="1"/>
          <p:nvPr/>
        </p:nvSpPr>
        <p:spPr>
          <a:xfrm>
            <a:off x="6842732" y="4357867"/>
            <a:ext cx="3915600" cy="76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" sz="1467" dirty="0">
                <a:solidFill>
                  <a:srgbClr val="1E276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Mentor</a:t>
            </a:r>
            <a:br>
              <a:rPr lang="en" sz="1467" dirty="0">
                <a:solidFill>
                  <a:srgbClr val="1E276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" sz="1467" dirty="0">
                <a:solidFill>
                  <a:srgbClr val="1E276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Dr. Indrajit Bhattacharya</a:t>
            </a:r>
            <a:br>
              <a:rPr lang="en" sz="1467" dirty="0">
                <a:solidFill>
                  <a:srgbClr val="1E276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" sz="1467" dirty="0">
                <a:solidFill>
                  <a:srgbClr val="1E276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Professor,KGEC</a:t>
            </a:r>
            <a:endParaRPr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Google Shape;67;p17"/>
          <p:cNvSpPr txBox="1"/>
          <p:nvPr/>
        </p:nvSpPr>
        <p:spPr>
          <a:xfrm>
            <a:off x="3468167" y="5363067"/>
            <a:ext cx="5486400" cy="29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" sz="1333" b="1">
                <a:solidFill>
                  <a:srgbClr val="0B65A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Summer Research Internship Programme 2026</a:t>
            </a:r>
            <a:endParaRPr sz="146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DA6EA1-2CE9-FA60-DE51-EF4BA3F206E2}"/>
              </a:ext>
            </a:extLst>
          </p:cNvPr>
          <p:cNvSpPr txBox="1"/>
          <p:nvPr/>
        </p:nvSpPr>
        <p:spPr>
          <a:xfrm>
            <a:off x="3313471" y="185769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CardioInsight • Machine Learning + Explainable AI +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2175"/>
            <a:ext cx="106070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system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94975"/>
            <a:ext cx="4114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064240" cy="32004"/>
          </a:xfrm>
          <a:prstGeom prst="rect">
            <a:avLst/>
          </a:prstGeom>
          <a:solidFill>
            <a:srgbClr val="14918C"/>
          </a:solidFill>
          <a:ln>
            <a:solidFill>
              <a:srgbClr val="14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49240" cy="42976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1247" y="1645919"/>
            <a:ext cx="4946903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C846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4837175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Cardiovascular risk factors can begin early in adulthood.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numerical prediction alone does not tell users why the model produced that result.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Healthcare-oriented ML systems need transparency, understandable explanations, and accessible reporting.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Scope: adults aged 18–55; research-based preliminary screening, not clinical diagnosis.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349240" cy="42976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19088" y="1645919"/>
            <a:ext cx="4946903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075688"/>
            <a:ext cx="4837175" cy="321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 cardiovascular risk using demographic, medical, lifestyle, mental-health, and dietary information.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Combine Logistic Regression, Random Forest, and XGBoost using a weighted probability ensemble.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SHAP to identify factors increasing or decreasing model output.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GenAI only to convert model evidence into readable explanations.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a secure web application with saved prediction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4246"/>
            <a:ext cx="1097280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SMC Student Branch Chapter, KGEC  •  Summer Research Internship Programme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/>
          <p:nvPr/>
        </p:nvSpPr>
        <p:spPr>
          <a:xfrm>
            <a:off x="4330400" y="349800"/>
            <a:ext cx="35312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E2761"/>
              </a:buClr>
              <a:buSzPts val="2400"/>
            </a:pPr>
            <a:r>
              <a:rPr lang="en" sz="3200" b="1">
                <a:solidFill>
                  <a:srgbClr val="1E276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Literature Study</a:t>
            </a:r>
            <a:endParaRPr sz="32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9" name="Google Shape;89;p19"/>
          <p:cNvSpPr/>
          <p:nvPr/>
        </p:nvSpPr>
        <p:spPr>
          <a:xfrm>
            <a:off x="3702300" y="823000"/>
            <a:ext cx="4986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7A7A7A"/>
              </a:buClr>
              <a:buSzPts val="1000"/>
            </a:pPr>
            <a:r>
              <a:rPr lang="en" sz="1333" i="1">
                <a:solidFill>
                  <a:srgbClr val="7A7A7A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Alternative Credit Scoring for Thin-File Borrowers  —  Prosperity Score</a:t>
            </a:r>
            <a:endParaRPr sz="1333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457200" y="1493126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9"/>
          <p:cNvSpPr/>
          <p:nvPr/>
        </p:nvSpPr>
        <p:spPr>
          <a:xfrm>
            <a:off x="658368" y="163943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658368" y="163943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" sz="1600" b="1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1298447" y="1493126"/>
            <a:ext cx="7599747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Machine Learning for Cardiovascular Risk Prediction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can analyze complex and nonlinear relationships among multiple cardiovascular risk factors.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Regression, Random Forest, and XGBoost represent complementary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approaches.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ensemble learning can combine their strengths for a more robust prediction.</a:t>
            </a:r>
          </a:p>
        </p:txBody>
      </p:sp>
      <p:sp>
        <p:nvSpPr>
          <p:cNvPr id="95" name="Google Shape;95;p19"/>
          <p:cNvSpPr/>
          <p:nvPr/>
        </p:nvSpPr>
        <p:spPr>
          <a:xfrm>
            <a:off x="457200" y="2493376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658368" y="263968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658368" y="26396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" sz="1600" b="1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1298447" y="2493376"/>
            <a:ext cx="9998817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Feature Engineering for Risk Assessment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risk depends on interactions between multiple factors rather than isolated variables.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Engineered features such as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Metabolic Risk Count, Lifestyle Risk Count, Age–BMI, Age–Smoking, and BP–Cholesterol interactions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represent these combined patterns.</a:t>
            </a:r>
          </a:p>
        </p:txBody>
      </p:sp>
      <p:sp>
        <p:nvSpPr>
          <p:cNvPr id="100" name="Google Shape;100;p19"/>
          <p:cNvSpPr/>
          <p:nvPr/>
        </p:nvSpPr>
        <p:spPr>
          <a:xfrm>
            <a:off x="457200" y="3432044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658368" y="3578348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658368" y="35783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" sz="1600" b="1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1298448" y="3432044"/>
            <a:ext cx="884844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Explainable AI in Healthcare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 ML models can behave like black boxes.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healthcare-related screening, users need to understand the factors influencing a prediction. </a:t>
            </a:r>
          </a:p>
          <a:p>
            <a:pPr lvl="0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feature-level contributions showing factors that increase or decrease the model output.</a:t>
            </a:r>
          </a:p>
        </p:txBody>
      </p:sp>
      <p:sp>
        <p:nvSpPr>
          <p:cNvPr id="105" name="Google Shape;105;p19"/>
          <p:cNvSpPr/>
          <p:nvPr/>
        </p:nvSpPr>
        <p:spPr>
          <a:xfrm>
            <a:off x="457200" y="4299567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658368" y="4445871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658368" y="4445871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4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1298447" y="4299566"/>
            <a:ext cx="9241733" cy="105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Generative AI for Human-Readable Explanations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GenAI can transform structured prediction and SHAP evidence into simple natural-language explanations.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the GenAI layer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calculate or modify the cardiovascular risk score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it only explains the ML and SHAP results.</a:t>
            </a:r>
          </a:p>
        </p:txBody>
      </p:sp>
      <p:sp>
        <p:nvSpPr>
          <p:cNvPr id="113" name="Google Shape;113;p19"/>
          <p:cNvSpPr/>
          <p:nvPr/>
        </p:nvSpPr>
        <p:spPr>
          <a:xfrm>
            <a:off x="1298448" y="5122527"/>
            <a:ext cx="1023518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457200" y="5513832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E9F7F5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685800" y="5737860"/>
            <a:ext cx="420624" cy="420624"/>
          </a:xfrm>
          <a:prstGeom prst="ellipse">
            <a:avLst/>
          </a:prstGeom>
          <a:solidFill>
            <a:srgbClr val="2FB6A5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685800" y="57378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400"/>
            </a:pPr>
            <a:r>
              <a:rPr lang="en" sz="1867" b="1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!</a:t>
            </a:r>
            <a:endParaRPr sz="1867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1298447" y="5477865"/>
            <a:ext cx="101500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Research Gap &amp; Project Contribution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focus only on prediction accuracy. </a:t>
            </a:r>
          </a:p>
          <a:p>
            <a:pPr lvl="0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CardioInsight integrates ML prediction + feature engineering + SHAP explainability + GenAI explanation + secure full-stack deployment in one platform.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6488553" y="6420499"/>
            <a:ext cx="5486400" cy="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7A7A7A"/>
              </a:buClr>
              <a:buSzPts val="600"/>
            </a:pPr>
            <a:r>
              <a:rPr lang="en" sz="800" i="1">
                <a:solidFill>
                  <a:srgbClr val="7A7A7A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Sources: ScienceDirect · Springer Artificial Intelligence Review · arXiv · IFC</a:t>
            </a:r>
            <a:endParaRPr sz="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20" name="Google Shape;120;p19" descr="IEEE logo transparent PNG - Stick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76666" y="228600"/>
            <a:ext cx="919151" cy="51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 descr="Kalyani Government Engineering College | Kalyani University Are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102" y="228600"/>
            <a:ext cx="738149" cy="71859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/>
          <p:nvPr/>
        </p:nvSpPr>
        <p:spPr>
          <a:xfrm>
            <a:off x="217500" y="6493567"/>
            <a:ext cx="4359200" cy="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B5B72"/>
              </a:buClr>
              <a:buSzPts val="800"/>
            </a:pPr>
            <a:r>
              <a:rPr lang="en" sz="1067">
                <a:solidFill>
                  <a:srgbClr val="5B5B7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IEEE SMC Student Branch Chapter  •  Kalyani Government Engineering College</a:t>
            </a:r>
            <a:endParaRPr sz="1067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23" name="Google Shape;123;p19" descr="https://www.ieeesmc.org/wp-content/uploads/2020/01/SMCS_ID_4-12___17_Mar_202011-scaled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63348" y="6461564"/>
            <a:ext cx="1065312" cy="3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9113"/>
            <a:ext cx="98755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9092"/>
            <a:ext cx="106070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raw health information becomes model-ready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71892"/>
            <a:ext cx="4114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064240" cy="32004"/>
          </a:xfrm>
          <a:prstGeom prst="rect">
            <a:avLst/>
          </a:prstGeom>
          <a:solidFill>
            <a:srgbClr val="14918C"/>
          </a:solidFill>
          <a:ln>
            <a:solidFill>
              <a:srgbClr val="14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4290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080148"/>
            <a:ext cx="3063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75012"/>
            <a:ext cx="30632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Age, Sex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65960"/>
            <a:ext cx="34290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63440" y="2080148"/>
            <a:ext cx="3063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&amp; Metabolic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75012"/>
            <a:ext cx="30632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BP, cholesterol, diabetes, BMI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965960"/>
            <a:ext cx="34290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58200" y="2080148"/>
            <a:ext cx="3063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Lifestyle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475012"/>
            <a:ext cx="30632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Smoking, exercise, alcohol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91839"/>
            <a:ext cx="34290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3406028"/>
            <a:ext cx="3063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00891"/>
            <a:ext cx="30632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Mentally unhealthy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291839"/>
            <a:ext cx="34290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63440" y="3406028"/>
            <a:ext cx="3063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Dietary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800891"/>
            <a:ext cx="30632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 and vegetable intake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27415"/>
            <a:ext cx="1060704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 final features, including engineered variables: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30531"/>
            <a:ext cx="10515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Metabolic Risk Count • Lifestyle Risk Count • Age–BMI Interaction • Age–Smoking Interaction • BP–Cholesterol Interaction • Overweight/Obesity Indicators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8858"/>
            <a:ext cx="10972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SMC Student Branch Chapter, KGEC  •  Summer Research Internship Programme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1400" y="387281"/>
            <a:ext cx="4114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13716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106687"/>
            <a:ext cx="11887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20674"/>
            <a:ext cx="11887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24916"/>
            <a:ext cx="29260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5688" y="1920240"/>
            <a:ext cx="13716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67128" y="2106686"/>
            <a:ext cx="11887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7128" y="2643729"/>
            <a:ext cx="11887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+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324916"/>
            <a:ext cx="29260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39896" y="1920240"/>
            <a:ext cx="13716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31335" y="2106687"/>
            <a:ext cx="11887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5" y="2643729"/>
            <a:ext cx="11887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+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324916"/>
            <a:ext cx="29260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4104" y="1920240"/>
            <a:ext cx="13716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95544" y="2106686"/>
            <a:ext cx="11887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Ensemble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5544" y="2643729"/>
            <a:ext cx="11887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 + RF + 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2324916"/>
            <a:ext cx="29260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8312" y="1920240"/>
            <a:ext cx="13716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59752" y="2214407"/>
            <a:ext cx="11887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2720674"/>
            <a:ext cx="11887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2324916"/>
            <a:ext cx="29260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19" y="1920240"/>
            <a:ext cx="13716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23959" y="2214407"/>
            <a:ext cx="11887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59" y="2643729"/>
            <a:ext cx="11887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Readable explanation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2324916"/>
            <a:ext cx="29260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96728" y="1920240"/>
            <a:ext cx="13716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488167" y="2214407"/>
            <a:ext cx="11887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88167" y="2720674"/>
            <a:ext cx="11887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Saved reports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4114800"/>
            <a:ext cx="10149840" cy="1005840"/>
          </a:xfrm>
          <a:prstGeom prst="roundRect">
            <a:avLst/>
          </a:prstGeom>
          <a:solidFill>
            <a:srgbClr val="E7F6F4"/>
          </a:solidFill>
          <a:ln>
            <a:solidFill>
              <a:srgbClr val="E7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34440" y="4316189"/>
            <a:ext cx="969264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design principle: GenAI explains structured prediction and SHAP evidence; it does NOT calculate or alter the cardiovascular risk probability.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86552"/>
            <a:ext cx="109728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SMC Student Branch Chapter, KGEC  •  Summer Research Internship Programme 2026</a:t>
            </a:r>
          </a:p>
        </p:txBody>
      </p:sp>
      <p:grpSp>
        <p:nvGrpSpPr>
          <p:cNvPr id="36" name="object 2">
            <a:extLst>
              <a:ext uri="{FF2B5EF4-FFF2-40B4-BE49-F238E27FC236}">
                <a16:creationId xmlns:a16="http://schemas.microsoft.com/office/drawing/2014/main" id="{3713E38C-80C4-F124-F937-CB384267DC10}"/>
              </a:ext>
            </a:extLst>
          </p:cNvPr>
          <p:cNvGrpSpPr/>
          <p:nvPr/>
        </p:nvGrpSpPr>
        <p:grpSpPr>
          <a:xfrm>
            <a:off x="500465" y="64016"/>
            <a:ext cx="1051560" cy="1051560"/>
            <a:chOff x="822960" y="960845"/>
            <a:chExt cx="1051560" cy="1051560"/>
          </a:xfrm>
        </p:grpSpPr>
        <p:sp>
          <p:nvSpPr>
            <p:cNvPr id="37" name="object 3">
              <a:extLst>
                <a:ext uri="{FF2B5EF4-FFF2-40B4-BE49-F238E27FC236}">
                  <a16:creationId xmlns:a16="http://schemas.microsoft.com/office/drawing/2014/main" id="{D21AEEA4-30F8-0847-2EE1-7F3F86383529}"/>
                </a:ext>
              </a:extLst>
            </p:cNvPr>
            <p:cNvSpPr/>
            <p:nvPr/>
          </p:nvSpPr>
          <p:spPr>
            <a:xfrm>
              <a:off x="822960" y="960845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60" h="1051560">
                  <a:moveTo>
                    <a:pt x="525749" y="1051499"/>
                  </a:moveTo>
                  <a:lnTo>
                    <a:pt x="477896" y="1049351"/>
                  </a:lnTo>
                  <a:lnTo>
                    <a:pt x="431245" y="1043029"/>
                  </a:lnTo>
                  <a:lnTo>
                    <a:pt x="385984" y="1032719"/>
                  </a:lnTo>
                  <a:lnTo>
                    <a:pt x="342298" y="1018607"/>
                  </a:lnTo>
                  <a:lnTo>
                    <a:pt x="300373" y="1000879"/>
                  </a:lnTo>
                  <a:lnTo>
                    <a:pt x="260393" y="979719"/>
                  </a:lnTo>
                  <a:lnTo>
                    <a:pt x="222546" y="955314"/>
                  </a:lnTo>
                  <a:lnTo>
                    <a:pt x="187015" y="927850"/>
                  </a:lnTo>
                  <a:lnTo>
                    <a:pt x="153988" y="897511"/>
                  </a:lnTo>
                  <a:lnTo>
                    <a:pt x="123649" y="864484"/>
                  </a:lnTo>
                  <a:lnTo>
                    <a:pt x="96185" y="828953"/>
                  </a:lnTo>
                  <a:lnTo>
                    <a:pt x="71780" y="791106"/>
                  </a:lnTo>
                  <a:lnTo>
                    <a:pt x="50620" y="751126"/>
                  </a:lnTo>
                  <a:lnTo>
                    <a:pt x="32892" y="709201"/>
                  </a:lnTo>
                  <a:lnTo>
                    <a:pt x="18780" y="665515"/>
                  </a:lnTo>
                  <a:lnTo>
                    <a:pt x="8470" y="620254"/>
                  </a:lnTo>
                  <a:lnTo>
                    <a:pt x="2148" y="573603"/>
                  </a:lnTo>
                  <a:lnTo>
                    <a:pt x="0" y="525749"/>
                  </a:lnTo>
                  <a:lnTo>
                    <a:pt x="2148" y="477896"/>
                  </a:lnTo>
                  <a:lnTo>
                    <a:pt x="8470" y="431245"/>
                  </a:lnTo>
                  <a:lnTo>
                    <a:pt x="18780" y="385984"/>
                  </a:lnTo>
                  <a:lnTo>
                    <a:pt x="32892" y="342298"/>
                  </a:lnTo>
                  <a:lnTo>
                    <a:pt x="50620" y="300373"/>
                  </a:lnTo>
                  <a:lnTo>
                    <a:pt x="71780" y="260393"/>
                  </a:lnTo>
                  <a:lnTo>
                    <a:pt x="96185" y="222546"/>
                  </a:lnTo>
                  <a:lnTo>
                    <a:pt x="123649" y="187015"/>
                  </a:lnTo>
                  <a:lnTo>
                    <a:pt x="153988" y="153988"/>
                  </a:lnTo>
                  <a:lnTo>
                    <a:pt x="187015" y="123649"/>
                  </a:lnTo>
                  <a:lnTo>
                    <a:pt x="222546" y="96185"/>
                  </a:lnTo>
                  <a:lnTo>
                    <a:pt x="260393" y="71780"/>
                  </a:lnTo>
                  <a:lnTo>
                    <a:pt x="300373" y="50620"/>
                  </a:lnTo>
                  <a:lnTo>
                    <a:pt x="342298" y="32892"/>
                  </a:lnTo>
                  <a:lnTo>
                    <a:pt x="385984" y="18780"/>
                  </a:lnTo>
                  <a:lnTo>
                    <a:pt x="431245" y="8470"/>
                  </a:lnTo>
                  <a:lnTo>
                    <a:pt x="477896" y="2148"/>
                  </a:lnTo>
                  <a:lnTo>
                    <a:pt x="525749" y="0"/>
                  </a:lnTo>
                  <a:lnTo>
                    <a:pt x="577713" y="2572"/>
                  </a:lnTo>
                  <a:lnTo>
                    <a:pt x="628797" y="10195"/>
                  </a:lnTo>
                  <a:lnTo>
                    <a:pt x="678656" y="22725"/>
                  </a:lnTo>
                  <a:lnTo>
                    <a:pt x="726945" y="40020"/>
                  </a:lnTo>
                  <a:lnTo>
                    <a:pt x="773320" y="61936"/>
                  </a:lnTo>
                  <a:lnTo>
                    <a:pt x="817436" y="88332"/>
                  </a:lnTo>
                  <a:lnTo>
                    <a:pt x="858948" y="119063"/>
                  </a:lnTo>
                  <a:lnTo>
                    <a:pt x="897511" y="153988"/>
                  </a:lnTo>
                  <a:lnTo>
                    <a:pt x="932436" y="192551"/>
                  </a:lnTo>
                  <a:lnTo>
                    <a:pt x="963167" y="234063"/>
                  </a:lnTo>
                  <a:lnTo>
                    <a:pt x="989563" y="278179"/>
                  </a:lnTo>
                  <a:lnTo>
                    <a:pt x="1011479" y="324554"/>
                  </a:lnTo>
                  <a:lnTo>
                    <a:pt x="1028774" y="372843"/>
                  </a:lnTo>
                  <a:lnTo>
                    <a:pt x="1041304" y="422702"/>
                  </a:lnTo>
                  <a:lnTo>
                    <a:pt x="1048927" y="473786"/>
                  </a:lnTo>
                  <a:lnTo>
                    <a:pt x="1051499" y="525749"/>
                  </a:lnTo>
                  <a:lnTo>
                    <a:pt x="1049351" y="573603"/>
                  </a:lnTo>
                  <a:lnTo>
                    <a:pt x="1043029" y="620254"/>
                  </a:lnTo>
                  <a:lnTo>
                    <a:pt x="1032719" y="665515"/>
                  </a:lnTo>
                  <a:lnTo>
                    <a:pt x="1018607" y="709201"/>
                  </a:lnTo>
                  <a:lnTo>
                    <a:pt x="1000879" y="751126"/>
                  </a:lnTo>
                  <a:lnTo>
                    <a:pt x="979719" y="791106"/>
                  </a:lnTo>
                  <a:lnTo>
                    <a:pt x="955314" y="828953"/>
                  </a:lnTo>
                  <a:lnTo>
                    <a:pt x="927850" y="864484"/>
                  </a:lnTo>
                  <a:lnTo>
                    <a:pt x="897511" y="897511"/>
                  </a:lnTo>
                  <a:lnTo>
                    <a:pt x="864483" y="927850"/>
                  </a:lnTo>
                  <a:lnTo>
                    <a:pt x="828953" y="955314"/>
                  </a:lnTo>
                  <a:lnTo>
                    <a:pt x="791106" y="979719"/>
                  </a:lnTo>
                  <a:lnTo>
                    <a:pt x="751126" y="1000879"/>
                  </a:lnTo>
                  <a:lnTo>
                    <a:pt x="709201" y="1018607"/>
                  </a:lnTo>
                  <a:lnTo>
                    <a:pt x="665515" y="1032719"/>
                  </a:lnTo>
                  <a:lnTo>
                    <a:pt x="620254" y="1043029"/>
                  </a:lnTo>
                  <a:lnTo>
                    <a:pt x="573603" y="1049351"/>
                  </a:lnTo>
                  <a:lnTo>
                    <a:pt x="525749" y="1051499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8" name="object 4">
              <a:extLst>
                <a:ext uri="{FF2B5EF4-FFF2-40B4-BE49-F238E27FC236}">
                  <a16:creationId xmlns:a16="http://schemas.microsoft.com/office/drawing/2014/main" id="{BB1D40C3-96B4-8495-A1B4-9F10953000C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3234" y="1171132"/>
              <a:ext cx="630936" cy="630936"/>
            </a:xfrm>
            <a:prstGeom prst="rect">
              <a:avLst/>
            </a:prstGeom>
          </p:spPr>
        </p:pic>
      </p:grpSp>
      <p:sp>
        <p:nvSpPr>
          <p:cNvPr id="39" name="object 5" descr="$PPTXTitle">
            <a:extLst>
              <a:ext uri="{FF2B5EF4-FFF2-40B4-BE49-F238E27FC236}">
                <a16:creationId xmlns:a16="http://schemas.microsoft.com/office/drawing/2014/main" id="{F127D930-0A92-A8A9-D366-226177403317}"/>
              </a:ext>
            </a:extLst>
          </p:cNvPr>
          <p:cNvSpPr txBox="1">
            <a:spLocks/>
          </p:cNvSpPr>
          <p:nvPr/>
        </p:nvSpPr>
        <p:spPr>
          <a:xfrm>
            <a:off x="1691640" y="-33686"/>
            <a:ext cx="4266708" cy="1445267"/>
          </a:xfrm>
          <a:prstGeom prst="rect">
            <a:avLst/>
          </a:prstGeom>
        </p:spPr>
        <p:txBody>
          <a:bodyPr vert="horz" wrap="square" lIns="0" tIns="298450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2350"/>
              </a:spcBef>
            </a:pPr>
            <a:r>
              <a:rPr lang="en-US" sz="4800" spc="-1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12700">
              <a:spcBef>
                <a:spcPts val="955"/>
              </a:spcBef>
            </a:pPr>
            <a:r>
              <a:rPr lang="en-US" sz="1800" i="1" spc="-10" dirty="0">
                <a:solidFill>
                  <a:srgbClr val="5B5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Approach,</a:t>
            </a:r>
            <a:r>
              <a:rPr lang="en-US" sz="1800" i="1" spc="-55" dirty="0">
                <a:solidFill>
                  <a:srgbClr val="5B5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solidFill>
                  <a:srgbClr val="5B5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design,</a:t>
            </a:r>
            <a:r>
              <a:rPr lang="en-US" sz="1800" i="1" spc="-50" dirty="0">
                <a:solidFill>
                  <a:srgbClr val="5B5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solidFill>
                  <a:srgbClr val="5B5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i="1" spc="-50" dirty="0">
                <a:solidFill>
                  <a:srgbClr val="5B5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spc="-10" dirty="0">
                <a:solidFill>
                  <a:srgbClr val="5B5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bject 6">
            <a:extLst>
              <a:ext uri="{FF2B5EF4-FFF2-40B4-BE49-F238E27FC236}">
                <a16:creationId xmlns:a16="http://schemas.microsoft.com/office/drawing/2014/main" id="{5B37ABC5-5F21-001C-F15E-8958096B4ED8}"/>
              </a:ext>
            </a:extLst>
          </p:cNvPr>
          <p:cNvSpPr/>
          <p:nvPr/>
        </p:nvSpPr>
        <p:spPr>
          <a:xfrm>
            <a:off x="2276855" y="1519772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199" y="0"/>
                </a:lnTo>
              </a:path>
            </a:pathLst>
          </a:custGeom>
          <a:ln w="25399">
            <a:solidFill>
              <a:srgbClr val="1E2761"/>
            </a:solidFill>
          </a:ln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9113"/>
            <a:ext cx="98755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9092"/>
            <a:ext cx="106070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Combining complementary models for cardiovascular risk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71892"/>
            <a:ext cx="4114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064240" cy="32004"/>
          </a:xfrm>
          <a:prstGeom prst="rect">
            <a:avLst/>
          </a:prstGeom>
          <a:solidFill>
            <a:srgbClr val="14918C"/>
          </a:solidFill>
          <a:ln>
            <a:solidFill>
              <a:srgbClr val="14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29718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1907637"/>
            <a:ext cx="26060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50171"/>
            <a:ext cx="2514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dirty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relationships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0" dirty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interpretability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30131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45920"/>
            <a:ext cx="29718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320" y="1907637"/>
            <a:ext cx="26060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550171"/>
            <a:ext cx="2514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Nonlinear patterns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interactions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59" y="2230131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645920"/>
            <a:ext cx="29718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95359" y="1907637"/>
            <a:ext cx="26060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550171"/>
            <a:ext cx="2514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Boosted decision trees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explanation component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6841" y="4012764"/>
            <a:ext cx="346783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dirty="0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Probability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546015"/>
            <a:ext cx="85039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risk probability is compared against predefined operational thresholds to support screening-oriented and higher-specificity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8858"/>
            <a:ext cx="10972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SMC Student Branch Chapter, KGEC  •  Summer Research Internship Programme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9890"/>
            <a:ext cx="98755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4481"/>
            <a:ext cx="106070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Untouched test-set results from the project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7281"/>
            <a:ext cx="4114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064240" cy="32004"/>
          </a:xfrm>
          <a:prstGeom prst="rect">
            <a:avLst/>
          </a:prstGeom>
          <a:solidFill>
            <a:srgbClr val="14918C"/>
          </a:solidFill>
          <a:ln>
            <a:solidFill>
              <a:srgbClr val="14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2743200" cy="502920"/>
          </a:xfrm>
          <a:prstGeom prst="rect">
            <a:avLst/>
          </a:prstGeom>
          <a:solidFill>
            <a:srgbClr val="0C1E37"/>
          </a:solidFill>
          <a:ln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649153"/>
            <a:ext cx="268833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554480"/>
            <a:ext cx="1417320" cy="502920"/>
          </a:xfrm>
          <a:prstGeom prst="rect">
            <a:avLst/>
          </a:prstGeom>
          <a:solidFill>
            <a:srgbClr val="0C1E37"/>
          </a:solidFill>
          <a:ln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47872" y="1649153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59" y="1554480"/>
            <a:ext cx="1417320" cy="502920"/>
          </a:xfrm>
          <a:prstGeom prst="rect">
            <a:avLst/>
          </a:prstGeom>
          <a:solidFill>
            <a:srgbClr val="0C1E37"/>
          </a:solidFill>
          <a:ln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65192" y="1649153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79" y="1554480"/>
            <a:ext cx="1417320" cy="502920"/>
          </a:xfrm>
          <a:prstGeom prst="rect">
            <a:avLst/>
          </a:prstGeom>
          <a:solidFill>
            <a:srgbClr val="0C1E37"/>
          </a:solidFill>
          <a:ln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82512" y="1649153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554480"/>
            <a:ext cx="1417320" cy="502920"/>
          </a:xfrm>
          <a:prstGeom prst="rect">
            <a:avLst/>
          </a:prstGeom>
          <a:solidFill>
            <a:srgbClr val="0C1E37"/>
          </a:solidFill>
          <a:ln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9831" y="1649153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1554480"/>
            <a:ext cx="1417320" cy="502920"/>
          </a:xfrm>
          <a:prstGeom prst="rect">
            <a:avLst/>
          </a:prstGeom>
          <a:solidFill>
            <a:srgbClr val="0C1E37"/>
          </a:solidFill>
          <a:ln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17151" y="1649153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057400"/>
            <a:ext cx="274320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4672" y="2220653"/>
            <a:ext cx="268833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057400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47872" y="2220653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75.71%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59" y="2057400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65192" y="2220653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6.76%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79" y="2057400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82512" y="2220653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70.88%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2057400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99831" y="2220653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12.35%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19" y="2057400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17151" y="2220653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80.22%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2715768"/>
            <a:ext cx="274320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4672" y="2879020"/>
            <a:ext cx="268833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2715768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47872" y="2879020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92.83%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59" y="2715768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965192" y="2879020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12.66%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79" y="2715768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82512" y="2879020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33.43%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2715768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99831" y="2879020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18.36%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19" y="2715768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17151" y="2879020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79.80%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3374136"/>
            <a:ext cx="274320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04672" y="3537389"/>
            <a:ext cx="268833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3374136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47872" y="3537389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82.50%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59" y="3374136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965192" y="3537389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8.51%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79" y="3374136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382512" y="3537389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64.16%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0" y="3374136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799831" y="3537389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15.03%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89719" y="3374136"/>
            <a:ext cx="1417320" cy="658368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217151" y="3537389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80.23%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4032504"/>
            <a:ext cx="2743200" cy="658368"/>
          </a:xfrm>
          <a:prstGeom prst="rect">
            <a:avLst/>
          </a:prstGeom>
          <a:solidFill>
            <a:srgbClr val="E7F6F4"/>
          </a:solidFill>
          <a:ln>
            <a:solidFill>
              <a:srgbClr val="E7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672" y="4195757"/>
            <a:ext cx="268833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Ensemble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20440" y="4032504"/>
            <a:ext cx="1417320" cy="658368"/>
          </a:xfrm>
          <a:prstGeom prst="rect">
            <a:avLst/>
          </a:prstGeom>
          <a:solidFill>
            <a:srgbClr val="E7F6F4"/>
          </a:solidFill>
          <a:ln>
            <a:solidFill>
              <a:srgbClr val="E7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547872" y="4195757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75.80%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59" y="4032504"/>
            <a:ext cx="1417320" cy="658368"/>
          </a:xfrm>
          <a:prstGeom prst="rect">
            <a:avLst/>
          </a:prstGeom>
          <a:solidFill>
            <a:srgbClr val="E7F6F4"/>
          </a:solidFill>
          <a:ln>
            <a:solidFill>
              <a:srgbClr val="E7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965192" y="4195757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7.03%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79" y="4032504"/>
            <a:ext cx="1417320" cy="658368"/>
          </a:xfrm>
          <a:prstGeom prst="rect">
            <a:avLst/>
          </a:prstGeom>
          <a:solidFill>
            <a:srgbClr val="E7F6F4"/>
          </a:solidFill>
          <a:ln>
            <a:solidFill>
              <a:srgbClr val="E7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382512" y="4195757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73.90%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0" y="4032504"/>
            <a:ext cx="1417320" cy="658368"/>
          </a:xfrm>
          <a:prstGeom prst="rect">
            <a:avLst/>
          </a:prstGeom>
          <a:solidFill>
            <a:srgbClr val="E7F6F4"/>
          </a:solidFill>
          <a:ln>
            <a:solidFill>
              <a:srgbClr val="E7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799831" y="4195757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12.85%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89719" y="4032504"/>
            <a:ext cx="1417320" cy="658368"/>
          </a:xfrm>
          <a:prstGeom prst="rect">
            <a:avLst/>
          </a:prstGeom>
          <a:solidFill>
            <a:srgbClr val="E7F6F4"/>
          </a:solidFill>
          <a:ln>
            <a:solidFill>
              <a:srgbClr val="E7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217151" y="4195757"/>
            <a:ext cx="136245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82.13%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68680" y="4983480"/>
            <a:ext cx="10515600" cy="868680"/>
          </a:xfrm>
          <a:prstGeom prst="roundRect">
            <a:avLst/>
          </a:prstGeom>
          <a:solidFill>
            <a:srgbClr val="FFF6EB"/>
          </a:solidFill>
          <a:ln>
            <a:solidFill>
              <a:srgbClr val="FF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97280" y="5191559"/>
            <a:ext cx="100584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 recall is relatively high at the screening operating point, while precision remains low because of heavy class imbalance. Future improvement includes calibration, threshold tuning, and better data.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486552"/>
            <a:ext cx="109728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SMC Student Branch Chapter, KGEC  •  Summer Research Internship Programme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46778"/>
            <a:ext cx="560527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with 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7281"/>
            <a:ext cx="4114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 dirty="0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4970"/>
            <a:ext cx="11064240" cy="32004"/>
          </a:xfrm>
          <a:prstGeom prst="rect">
            <a:avLst/>
          </a:prstGeom>
          <a:solidFill>
            <a:srgbClr val="14918C"/>
          </a:solidFill>
          <a:ln>
            <a:solidFill>
              <a:srgbClr val="14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16281" y="2320364"/>
            <a:ext cx="5120640" cy="411480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7449" y="2448266"/>
            <a:ext cx="471830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SHAP Provides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313" y="2887292"/>
            <a:ext cx="4608575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Feature-level contribution for an individual prediction.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Factors increasing the XGBoost model output.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Factors decreasing the XGBoost model output.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Baseline value and contribution magnitude.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Global and local visual interpretation.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225359"/>
            <a:ext cx="5120640" cy="411480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93408" y="2353261"/>
            <a:ext cx="471830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Interpret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2792287"/>
            <a:ext cx="460857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Positive SHAP value: feature moves the explained output upward.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Negative SHAP value: feature moves it downward.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SHAP explains model influence, not medical causation.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this project, SHAP Tree Explainer is applied to the XGBoost component.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86552"/>
            <a:ext cx="109728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SMC Student Branch Chapter, KGEC  •  Summer Research Internship Programme 2026</a:t>
            </a:r>
          </a:p>
        </p:txBody>
      </p:sp>
      <p:grpSp>
        <p:nvGrpSpPr>
          <p:cNvPr id="13" name="object 2">
            <a:extLst>
              <a:ext uri="{FF2B5EF4-FFF2-40B4-BE49-F238E27FC236}">
                <a16:creationId xmlns:a16="http://schemas.microsoft.com/office/drawing/2014/main" id="{6859ED52-345C-A5EE-CB7C-F7F7417A343D}"/>
              </a:ext>
            </a:extLst>
          </p:cNvPr>
          <p:cNvGrpSpPr/>
          <p:nvPr/>
        </p:nvGrpSpPr>
        <p:grpSpPr>
          <a:xfrm>
            <a:off x="579120" y="139880"/>
            <a:ext cx="820419" cy="858519"/>
            <a:chOff x="1193377" y="576074"/>
            <a:chExt cx="820419" cy="858519"/>
          </a:xfrm>
        </p:grpSpPr>
        <p:sp>
          <p:nvSpPr>
            <p:cNvPr id="14" name="object 3">
              <a:extLst>
                <a:ext uri="{FF2B5EF4-FFF2-40B4-BE49-F238E27FC236}">
                  <a16:creationId xmlns:a16="http://schemas.microsoft.com/office/drawing/2014/main" id="{9148433A-B7D1-7CA3-6126-D25937290AA1}"/>
                </a:ext>
              </a:extLst>
            </p:cNvPr>
            <p:cNvSpPr/>
            <p:nvPr/>
          </p:nvSpPr>
          <p:spPr>
            <a:xfrm>
              <a:off x="1193377" y="576074"/>
              <a:ext cx="820419" cy="858519"/>
            </a:xfrm>
            <a:custGeom>
              <a:avLst/>
              <a:gdLst/>
              <a:ahLst/>
              <a:cxnLst/>
              <a:rect l="l" t="t" r="r" b="b"/>
              <a:pathLst>
                <a:path w="820419" h="858519">
                  <a:moveTo>
                    <a:pt x="410099" y="858000"/>
                  </a:moveTo>
                  <a:lnTo>
                    <a:pt x="362273" y="855113"/>
                  </a:lnTo>
                  <a:lnTo>
                    <a:pt x="316067" y="846669"/>
                  </a:lnTo>
                  <a:lnTo>
                    <a:pt x="271790" y="832989"/>
                  </a:lnTo>
                  <a:lnTo>
                    <a:pt x="229748" y="814395"/>
                  </a:lnTo>
                  <a:lnTo>
                    <a:pt x="190250" y="791209"/>
                  </a:lnTo>
                  <a:lnTo>
                    <a:pt x="153603" y="763753"/>
                  </a:lnTo>
                  <a:lnTo>
                    <a:pt x="120115" y="732348"/>
                  </a:lnTo>
                  <a:lnTo>
                    <a:pt x="90094" y="697317"/>
                  </a:lnTo>
                  <a:lnTo>
                    <a:pt x="63847" y="658981"/>
                  </a:lnTo>
                  <a:lnTo>
                    <a:pt x="41683" y="617663"/>
                  </a:lnTo>
                  <a:lnTo>
                    <a:pt x="23908" y="573684"/>
                  </a:lnTo>
                  <a:lnTo>
                    <a:pt x="10831" y="527365"/>
                  </a:lnTo>
                  <a:lnTo>
                    <a:pt x="2759" y="479030"/>
                  </a:lnTo>
                  <a:lnTo>
                    <a:pt x="0" y="429000"/>
                  </a:lnTo>
                  <a:lnTo>
                    <a:pt x="2759" y="378969"/>
                  </a:lnTo>
                  <a:lnTo>
                    <a:pt x="10831" y="330634"/>
                  </a:lnTo>
                  <a:lnTo>
                    <a:pt x="23908" y="284316"/>
                  </a:lnTo>
                  <a:lnTo>
                    <a:pt x="41683" y="240336"/>
                  </a:lnTo>
                  <a:lnTo>
                    <a:pt x="63847" y="199018"/>
                  </a:lnTo>
                  <a:lnTo>
                    <a:pt x="90094" y="160682"/>
                  </a:lnTo>
                  <a:lnTo>
                    <a:pt x="120115" y="125651"/>
                  </a:lnTo>
                  <a:lnTo>
                    <a:pt x="153603" y="94246"/>
                  </a:lnTo>
                  <a:lnTo>
                    <a:pt x="190250" y="66790"/>
                  </a:lnTo>
                  <a:lnTo>
                    <a:pt x="229748" y="43604"/>
                  </a:lnTo>
                  <a:lnTo>
                    <a:pt x="271790" y="25010"/>
                  </a:lnTo>
                  <a:lnTo>
                    <a:pt x="316067" y="11330"/>
                  </a:lnTo>
                  <a:lnTo>
                    <a:pt x="362273" y="2886"/>
                  </a:lnTo>
                  <a:lnTo>
                    <a:pt x="410099" y="0"/>
                  </a:lnTo>
                  <a:lnTo>
                    <a:pt x="456374" y="2738"/>
                  </a:lnTo>
                  <a:lnTo>
                    <a:pt x="501701" y="10837"/>
                  </a:lnTo>
                  <a:lnTo>
                    <a:pt x="545680" y="24122"/>
                  </a:lnTo>
                  <a:lnTo>
                    <a:pt x="587909" y="42420"/>
                  </a:lnTo>
                  <a:lnTo>
                    <a:pt x="627987" y="65557"/>
                  </a:lnTo>
                  <a:lnTo>
                    <a:pt x="665512" y="93358"/>
                  </a:lnTo>
                  <a:lnTo>
                    <a:pt x="700084" y="125651"/>
                  </a:lnTo>
                  <a:lnTo>
                    <a:pt x="730954" y="161816"/>
                  </a:lnTo>
                  <a:lnTo>
                    <a:pt x="757530" y="201071"/>
                  </a:lnTo>
                  <a:lnTo>
                    <a:pt x="779648" y="242996"/>
                  </a:lnTo>
                  <a:lnTo>
                    <a:pt x="797140" y="287171"/>
                  </a:lnTo>
                  <a:lnTo>
                    <a:pt x="809840" y="333177"/>
                  </a:lnTo>
                  <a:lnTo>
                    <a:pt x="817582" y="380593"/>
                  </a:lnTo>
                  <a:lnTo>
                    <a:pt x="820199" y="429000"/>
                  </a:lnTo>
                  <a:lnTo>
                    <a:pt x="817440" y="479030"/>
                  </a:lnTo>
                  <a:lnTo>
                    <a:pt x="809368" y="527365"/>
                  </a:lnTo>
                  <a:lnTo>
                    <a:pt x="796291" y="573684"/>
                  </a:lnTo>
                  <a:lnTo>
                    <a:pt x="778516" y="617663"/>
                  </a:lnTo>
                  <a:lnTo>
                    <a:pt x="756352" y="658981"/>
                  </a:lnTo>
                  <a:lnTo>
                    <a:pt x="730105" y="697317"/>
                  </a:lnTo>
                  <a:lnTo>
                    <a:pt x="700084" y="732348"/>
                  </a:lnTo>
                  <a:lnTo>
                    <a:pt x="666596" y="763753"/>
                  </a:lnTo>
                  <a:lnTo>
                    <a:pt x="629949" y="791209"/>
                  </a:lnTo>
                  <a:lnTo>
                    <a:pt x="590451" y="814395"/>
                  </a:lnTo>
                  <a:lnTo>
                    <a:pt x="548409" y="832989"/>
                  </a:lnTo>
                  <a:lnTo>
                    <a:pt x="504132" y="846669"/>
                  </a:lnTo>
                  <a:lnTo>
                    <a:pt x="457926" y="855113"/>
                  </a:lnTo>
                  <a:lnTo>
                    <a:pt x="410099" y="85800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4">
              <a:extLst>
                <a:ext uri="{FF2B5EF4-FFF2-40B4-BE49-F238E27FC236}">
                  <a16:creationId xmlns:a16="http://schemas.microsoft.com/office/drawing/2014/main" id="{72C951C3-DAAA-1B79-B100-71022B97282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8009" y="689607"/>
              <a:ext cx="630936" cy="630936"/>
            </a:xfrm>
            <a:prstGeom prst="rect">
              <a:avLst/>
            </a:prstGeom>
          </p:spPr>
        </p:pic>
      </p:grpSp>
      <p:sp>
        <p:nvSpPr>
          <p:cNvPr id="16" name="object 5" descr="$PPTXTitle">
            <a:extLst>
              <a:ext uri="{FF2B5EF4-FFF2-40B4-BE49-F238E27FC236}">
                <a16:creationId xmlns:a16="http://schemas.microsoft.com/office/drawing/2014/main" id="{2B1D70D3-E2EC-E1DF-5810-1CF3BDA2EE57}"/>
              </a:ext>
            </a:extLst>
          </p:cNvPr>
          <p:cNvSpPr txBox="1">
            <a:spLocks/>
          </p:cNvSpPr>
          <p:nvPr/>
        </p:nvSpPr>
        <p:spPr>
          <a:xfrm>
            <a:off x="1494171" y="-5192"/>
            <a:ext cx="3471118" cy="1476045"/>
          </a:xfrm>
          <a:prstGeom prst="rect">
            <a:avLst/>
          </a:prstGeom>
        </p:spPr>
        <p:txBody>
          <a:bodyPr vert="horz" wrap="square" lIns="0" tIns="298450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2080">
              <a:spcBef>
                <a:spcPts val="2350"/>
              </a:spcBef>
            </a:pPr>
            <a:r>
              <a:rPr lang="en-US" sz="4800" spc="-1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12700">
              <a:spcBef>
                <a:spcPts val="955"/>
              </a:spcBef>
            </a:pPr>
            <a:r>
              <a:rPr lang="en-US" sz="1800" i="1" dirty="0">
                <a:solidFill>
                  <a:srgbClr val="5B5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1800" i="1" spc="-75" dirty="0">
                <a:solidFill>
                  <a:srgbClr val="5B5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solidFill>
                  <a:srgbClr val="5B5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  <a:r>
              <a:rPr lang="en-US" sz="1800" i="1" spc="-70" dirty="0">
                <a:solidFill>
                  <a:srgbClr val="5B5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solidFill>
                  <a:srgbClr val="5B5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i="1" spc="-75" dirty="0">
                <a:solidFill>
                  <a:srgbClr val="5B5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spc="-10" dirty="0">
                <a:solidFill>
                  <a:srgbClr val="5B5B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9113"/>
            <a:ext cx="98755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Explanation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9092"/>
            <a:ext cx="106070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structured SHAP evidence to patient-friendly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71892"/>
            <a:ext cx="4114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064240" cy="32004"/>
          </a:xfrm>
          <a:prstGeom prst="rect">
            <a:avLst/>
          </a:prstGeom>
          <a:solidFill>
            <a:srgbClr val="14918C"/>
          </a:solidFill>
          <a:ln>
            <a:solidFill>
              <a:srgbClr val="14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2331720" cy="1325880"/>
          </a:xfrm>
          <a:prstGeom prst="roundRect">
            <a:avLst/>
          </a:prstGeom>
          <a:solidFill>
            <a:srgbClr val="EDF3F9"/>
          </a:solidFill>
          <a:ln>
            <a:solidFill>
              <a:srgbClr val="ED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6968" y="2169914"/>
            <a:ext cx="211226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62687"/>
            <a:ext cx="211226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Ensemble probability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2294139"/>
            <a:ext cx="4114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920240"/>
            <a:ext cx="2331720" cy="1325880"/>
          </a:xfrm>
          <a:prstGeom prst="roundRect">
            <a:avLst/>
          </a:prstGeom>
          <a:solidFill>
            <a:srgbClr val="EDF3F9"/>
          </a:solidFill>
          <a:ln>
            <a:solidFill>
              <a:srgbClr val="ED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67328" y="2169914"/>
            <a:ext cx="211226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662687"/>
            <a:ext cx="211226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+ / − factors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294139"/>
            <a:ext cx="4114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59" y="1920240"/>
            <a:ext cx="2331720" cy="1325880"/>
          </a:xfrm>
          <a:prstGeom prst="roundRect">
            <a:avLst/>
          </a:prstGeom>
          <a:solidFill>
            <a:srgbClr val="EDF3F9"/>
          </a:solidFill>
          <a:ln>
            <a:solidFill>
              <a:srgbClr val="ED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47688" y="2031415"/>
            <a:ext cx="2112264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Prompt-Controlled GenAI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662687"/>
            <a:ext cx="211226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→ 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2294139"/>
            <a:ext cx="4114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19" y="1920240"/>
            <a:ext cx="2331720" cy="1325880"/>
          </a:xfrm>
          <a:prstGeom prst="roundRect">
            <a:avLst/>
          </a:prstGeom>
          <a:solidFill>
            <a:srgbClr val="EDF3F9"/>
          </a:solidFill>
          <a:ln>
            <a:solidFill>
              <a:srgbClr val="ED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28047" y="2169914"/>
            <a:ext cx="211226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2463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Readable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7" y="2662687"/>
            <a:ext cx="211226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Clear, structured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51905"/>
            <a:ext cx="105156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1E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explanation sections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76793"/>
            <a:ext cx="1014984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491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Summary  •  Factors Increasing Risk  •  Factors Decreasing Risk  •  Model Explanation  •  Suggested Next Steps &amp; Notice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24536"/>
            <a:ext cx="103327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C846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 boundary: the GenAI layer is an explanation layer and does not independently determine the medical risk score.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8858"/>
            <a:ext cx="10972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373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SMC Student Branch Chapter, KGEC  •  Summer Research Internship Programme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/>
          <p:nvPr/>
        </p:nvSpPr>
        <p:spPr>
          <a:xfrm>
            <a:off x="1272667" y="168467"/>
            <a:ext cx="1051600" cy="105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endParaRPr sz="1467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38" name="Google Shape;238;p23" descr="/home/claude/icon_comparis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2995" y="378812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/>
          <p:nvPr/>
        </p:nvSpPr>
        <p:spPr>
          <a:xfrm>
            <a:off x="2563682" y="305667"/>
            <a:ext cx="468269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E2761"/>
              </a:buClr>
              <a:buSzPts val="3000"/>
            </a:pPr>
            <a:r>
              <a:rPr lang="en" sz="4000" b="1" dirty="0">
                <a:solidFill>
                  <a:srgbClr val="1E276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Comparison Study</a:t>
            </a:r>
            <a:endParaRPr sz="40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2376083" y="1110976"/>
            <a:ext cx="422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5B5B72"/>
              </a:buClr>
              <a:buSzPts val="1300"/>
            </a:pPr>
            <a:r>
              <a:rPr lang="en" sz="1733" i="1" dirty="0">
                <a:solidFill>
                  <a:srgbClr val="5B5B7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Benchmarking against existing methods</a:t>
            </a:r>
            <a:endParaRPr sz="1733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41" name="Google Shape;241;p23"/>
          <p:cNvCxnSpPr/>
          <p:nvPr/>
        </p:nvCxnSpPr>
        <p:spPr>
          <a:xfrm>
            <a:off x="2793674" y="1568176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2" name="Google Shape;242;p23"/>
          <p:cNvSpPr/>
          <p:nvPr/>
        </p:nvSpPr>
        <p:spPr>
          <a:xfrm>
            <a:off x="217533" y="6460867"/>
            <a:ext cx="8229600" cy="2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B5B72"/>
              </a:buClr>
              <a:buSzPts val="800"/>
            </a:pPr>
            <a:r>
              <a:rPr lang="en" sz="1067">
                <a:solidFill>
                  <a:srgbClr val="5B5B7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IEEE SMC Student Branch Chapter  •  Kalyani Government Engineering College</a:t>
            </a:r>
            <a:endParaRPr sz="1067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43" name="Google Shape;243;p23" descr="https://www.ieeesmc.org/wp-content/uploads/2020/01/SMCS_ID_4-12___17_Mar_202011-scaled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98302" y="6460853"/>
            <a:ext cx="1322100" cy="397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Kalyani Government Engineering College | Kalyani University Are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5102" y="228600"/>
            <a:ext cx="738149" cy="718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EEE logo transparent PNG - Stick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76666" y="228600"/>
            <a:ext cx="919151" cy="5125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C04136-C0BF-EE34-0BBF-B836B833C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557450"/>
              </p:ext>
            </p:extLst>
          </p:nvPr>
        </p:nvGraphicFramePr>
        <p:xfrm>
          <a:off x="2486483" y="2300563"/>
          <a:ext cx="8229600" cy="31089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88413606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48283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CardioInsight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11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Single/limited prediction approach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based mainly on standard risk factors.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Weighted ML ensemble</a:t>
                      </a: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using Logistic Regression, Random Forest, and XGBoost.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394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Provides mainly a risk score or probability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limited explanation.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SHAP-based Explainable AI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identifies factors increasing or decreasing the prediction.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95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Limited user interaction and reporting.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GenAI-powered explanations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a secure web app and saved prediction history.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5286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/>
          <p:nvPr/>
        </p:nvSpPr>
        <p:spPr>
          <a:xfrm>
            <a:off x="2288493" y="1368753"/>
            <a:ext cx="1051600" cy="1051600"/>
          </a:xfrm>
          <a:prstGeom prst="ellipse">
            <a:avLst/>
          </a:prstGeom>
          <a:solidFill>
            <a:srgbClr val="24306B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endParaRPr sz="1467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56" name="Google Shape;256;p24" descr="/home/claude/icon_conclus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8839" y="1627632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/>
          <p:nvPr/>
        </p:nvSpPr>
        <p:spPr>
          <a:xfrm>
            <a:off x="127819" y="2652267"/>
            <a:ext cx="564458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3000"/>
            </a:pPr>
            <a:r>
              <a:rPr lang="en" sz="3733" b="1" dirty="0">
                <a:solidFill>
                  <a:srgbClr val="24306B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Conclusion &amp; Future Work</a:t>
            </a:r>
            <a:endParaRPr sz="3733" dirty="0">
              <a:solidFill>
                <a:srgbClr val="24306B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1041596" y="3619967"/>
            <a:ext cx="39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AEB8E0"/>
              </a:buClr>
              <a:buSzPts val="1300"/>
            </a:pPr>
            <a:r>
              <a:rPr lang="en" sz="1733" i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Summary and directions ahead</a:t>
            </a:r>
            <a:endParaRPr sz="1733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59" name="Google Shape;259;p24"/>
          <p:cNvCxnSpPr/>
          <p:nvPr/>
        </p:nvCxnSpPr>
        <p:spPr>
          <a:xfrm>
            <a:off x="1634613" y="426006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24306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0" name="Google Shape;260;p24"/>
          <p:cNvSpPr/>
          <p:nvPr/>
        </p:nvSpPr>
        <p:spPr>
          <a:xfrm>
            <a:off x="240000" y="6417000"/>
            <a:ext cx="4431200" cy="2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9AA6D6"/>
              </a:buClr>
              <a:buSzPts val="800"/>
            </a:pPr>
            <a:r>
              <a:rPr lang="en" sz="1067">
                <a:solidFill>
                  <a:srgbClr val="9AA6D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IEEE SMC Student Branch Chapter  •  Kalyani Government Engineering College</a:t>
            </a:r>
            <a:endParaRPr sz="1067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61" name="Google Shape;261;p24" descr="https://www.ieeesmc.org/wp-content/uploads/2020/01/SMCS_ID_4-12___17_Mar_202011-scaled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91369" y="6416986"/>
            <a:ext cx="1322100" cy="39714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/>
          <p:nvPr/>
        </p:nvSpPr>
        <p:spPr>
          <a:xfrm>
            <a:off x="6332667" y="1031174"/>
            <a:ext cx="5532400" cy="2259200"/>
          </a:xfrm>
          <a:prstGeom prst="roundRect">
            <a:avLst>
              <a:gd name="adj" fmla="val 16667"/>
            </a:avLst>
          </a:prstGeom>
          <a:solidFill>
            <a:srgbClr val="F4F5FA"/>
          </a:solidFill>
          <a:ln w="10150" cap="flat" cmpd="sng">
            <a:solidFill>
              <a:srgbClr val="D9DC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28000" tIns="73167" rIns="128000" bIns="45700" anchor="ctr" anchorCtr="0">
            <a:noAutofit/>
          </a:bodyPr>
          <a:lstStyle/>
          <a:p>
            <a:pPr algn="ctr"/>
            <a:endParaRPr sz="1467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146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6407692" y="3591458"/>
            <a:ext cx="5382349" cy="2680740"/>
          </a:xfrm>
          <a:prstGeom prst="roundRect">
            <a:avLst>
              <a:gd name="adj" fmla="val 16667"/>
            </a:avLst>
          </a:prstGeom>
          <a:solidFill>
            <a:srgbClr val="F4F5FA"/>
          </a:solidFill>
          <a:ln w="10150" cap="flat" cmpd="sng">
            <a:solidFill>
              <a:srgbClr val="D9DC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28000" tIns="73167" rIns="128000" bIns="45700" anchor="ctr" anchorCtr="0">
            <a:noAutofit/>
          </a:bodyPr>
          <a:lstStyle/>
          <a:p>
            <a:endParaRPr sz="1467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146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4" name="Google Shape;264;p24" descr="Kalyani Government Engineering College | Kalyani University Are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402" y="249034"/>
            <a:ext cx="738149" cy="718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 descr="IEEE logo transparent PNG - Stick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76666" y="228600"/>
            <a:ext cx="919151" cy="51253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7835043" y="3808362"/>
            <a:ext cx="27432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chemeClr val="dk1"/>
              </a:buClr>
            </a:pPr>
            <a:r>
              <a:rPr lang="en" sz="1333" b="1" dirty="0">
                <a:solidFill>
                  <a:srgbClr val="1E276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Future work stated in the report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6725265" y="4205562"/>
            <a:ext cx="4925960" cy="10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Prospective multi-center clinical validation is required.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size is reduced after age filtering and includes self-reported variables.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Current SHAP explicitly explains the XGBoost component, not the full ensemble.</a:t>
            </a:r>
          </a:p>
          <a:p>
            <a:pPr>
              <a:spcAft>
                <a:spcPts val="800"/>
              </a:spcAft>
              <a:defRPr sz="1200">
                <a:solidFill>
                  <a:srgbClr val="0C1E37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Future work: larger data, biomarkers, calibration, fairness checks, and unified ensemble explainability.</a:t>
            </a:r>
          </a:p>
          <a:p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7548267" y="1214953"/>
            <a:ext cx="31012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chemeClr val="dk1"/>
              </a:buClr>
            </a:pPr>
            <a:r>
              <a:rPr lang="en" sz="1467" b="1" dirty="0">
                <a:solidFill>
                  <a:srgbClr val="1E276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Conclusion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6526640" y="1551067"/>
            <a:ext cx="5269177" cy="11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Logistic Regression, Random Forest, and XGBoost through a weighted ensemble. • Meaningful features: captures metabolic, lifestyle, BMI, smoking, and BP–cholesterol interactions. SHAP identifies feature-level model contributions. translates structured evidence into human-readable explanations without changing predictions. integrates ML, XAI, GenAI, authentication, database storage, and a user-friendly web interface.</a:t>
            </a:r>
          </a:p>
          <a:p>
            <a:pPr>
              <a:buClr>
                <a:schemeClr val="dk1"/>
              </a:buClr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7" descr="Kalyani Government Engineering College | Kalyani University Are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402" y="249034"/>
            <a:ext cx="738149" cy="718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7" descr="https://www.ieeesmc.org/wp-content/uploads/2020/01/SMCS_ID_4-12___17_Mar_202011-scaled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0319" y="6236853"/>
            <a:ext cx="1322100" cy="397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7" descr="IEEE logo transparent PNG - Stick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04683" y="352067"/>
            <a:ext cx="919151" cy="51253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7"/>
          <p:cNvSpPr txBox="1"/>
          <p:nvPr/>
        </p:nvSpPr>
        <p:spPr>
          <a:xfrm>
            <a:off x="1554560" y="1989391"/>
            <a:ext cx="9052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65" name="Google Shape;65;p17"/>
          <p:cNvSpPr txBox="1"/>
          <p:nvPr/>
        </p:nvSpPr>
        <p:spPr>
          <a:xfrm>
            <a:off x="3670560" y="4460173"/>
            <a:ext cx="50816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Souren Mondal  •  B.Tech CSE (AI &amp; ML)  •  2027 Batch</a:t>
            </a:r>
          </a:p>
        </p:txBody>
      </p:sp>
      <p:sp>
        <p:nvSpPr>
          <p:cNvPr id="67" name="Google Shape;67;p17"/>
          <p:cNvSpPr txBox="1"/>
          <p:nvPr/>
        </p:nvSpPr>
        <p:spPr>
          <a:xfrm>
            <a:off x="3468167" y="5363067"/>
            <a:ext cx="54864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" sz="1400" b="1">
                <a:solidFill>
                  <a:srgbClr val="0B65A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Summer Research Internship Programme 2026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7BDE1661-C4ED-FFAB-1C2B-A0C8ACE9CC92}"/>
              </a:ext>
            </a:extLst>
          </p:cNvPr>
          <p:cNvSpPr/>
          <p:nvPr/>
        </p:nvSpPr>
        <p:spPr>
          <a:xfrm>
            <a:off x="2880360" y="3154680"/>
            <a:ext cx="6400800" cy="868680"/>
          </a:xfrm>
          <a:prstGeom prst="roundRect">
            <a:avLst/>
          </a:prstGeom>
          <a:solidFill>
            <a:schemeClr val="bg1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230D3-7DE5-2466-72CB-886F7328DA97}"/>
              </a:ext>
            </a:extLst>
          </p:cNvPr>
          <p:cNvSpPr txBox="1"/>
          <p:nvPr/>
        </p:nvSpPr>
        <p:spPr>
          <a:xfrm>
            <a:off x="3063240" y="3242995"/>
            <a:ext cx="603504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and Generative AI-Based</a:t>
            </a:r>
            <a:br>
              <a:rPr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Risk Prediction for Young Adults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1318</Words>
  <Application>Microsoft Office PowerPoint</Application>
  <PresentationFormat>Widescreen</PresentationFormat>
  <Paragraphs>202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SOUREN MONDAL</cp:lastModifiedBy>
  <cp:revision>2</cp:revision>
  <dcterms:created xsi:type="dcterms:W3CDTF">2013-01-27T09:14:16Z</dcterms:created>
  <dcterms:modified xsi:type="dcterms:W3CDTF">2026-08-21T12:04:49Z</dcterms:modified>
  <cp:category/>
</cp:coreProperties>
</file>