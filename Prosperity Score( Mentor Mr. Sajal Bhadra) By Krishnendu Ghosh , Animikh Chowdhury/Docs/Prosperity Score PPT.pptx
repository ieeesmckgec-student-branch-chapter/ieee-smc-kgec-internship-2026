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1" r:id="rId1"/>
    <p:sldMasterId id="2147483662" r:id="rId2"/>
    <p:sldMasterId id="2147483663" r:id="rId3"/>
  </p:sldMasterIdLst>
  <p:notesMasterIdLst>
    <p:notesMasterId r:id="rId1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2C1F20-1A7C-44A3-91DF-C4F051880C13}" v="2" dt="2026-08-21T15:08:01.9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theme" Target="theme/theme1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shnendu Ghosh" userId="47750552814cd493" providerId="LiveId" clId="{C46DD25D-727B-4327-ACF9-E3CBE1E6696F}"/>
    <pc:docChg chg="modSld">
      <pc:chgData name="Krishnendu Ghosh" userId="47750552814cd493" providerId="LiveId" clId="{C46DD25D-727B-4327-ACF9-E3CBE1E6696F}" dt="2026-08-21T15:08:13.744" v="17" actId="1076"/>
      <pc:docMkLst>
        <pc:docMk/>
      </pc:docMkLst>
      <pc:sldChg chg="modSp mod">
        <pc:chgData name="Krishnendu Ghosh" userId="47750552814cd493" providerId="LiveId" clId="{C46DD25D-727B-4327-ACF9-E3CBE1E6696F}" dt="2026-08-21T15:08:13.744" v="17" actId="1076"/>
        <pc:sldMkLst>
          <pc:docMk/>
          <pc:sldMk cId="0" sldId="257"/>
        </pc:sldMkLst>
        <pc:spChg chg="mod">
          <ac:chgData name="Krishnendu Ghosh" userId="47750552814cd493" providerId="LiveId" clId="{C46DD25D-727B-4327-ACF9-E3CBE1E6696F}" dt="2026-08-21T15:08:13.744" v="17" actId="1076"/>
          <ac:spMkLst>
            <pc:docMk/>
            <pc:sldMk cId="0" sldId="257"/>
            <ac:spMk id="8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f723565333_2_2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g3f723565333_2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723565333_2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g3f723565333_2_16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1" name="Google Shape;71;g3f723565333_2_16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f76e8998d0_4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857250"/>
            <a:ext cx="54864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g3f76e8998d0_4_2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g3f76e8998d0_4_2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f76e8998d0_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857250"/>
            <a:ext cx="54864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g3f76e8998d0_6_0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g3f76e8998d0_6_0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f76e8998d0_8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g3f76e8998d0_8_0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g3f76e8998d0_8_0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f723565333_2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857250"/>
            <a:ext cx="54864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7" name="Google Shape;217;g3f723565333_2_93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8" name="Google Shape;218;g3f723565333_2_93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f723565333_2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857250"/>
            <a:ext cx="54864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f723565333_2_116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5" name="Google Shape;235;g3f723565333_2_116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f723565333_2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857250"/>
            <a:ext cx="54864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2" name="Google Shape;252;g3f723565333_2_133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3" name="Google Shape;253;g3f723565333_2_133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hyperlink" Target="https://drive.google.com/file/d/1RDHF3oEpRoTGEQ17J6pC-iPHTaA9u8Ja/view?usp=sharing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prosperityscore.vercel.app/" TargetMode="External"/><Relationship Id="rId5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17" descr="Kalyani Government Engineering College | Kalyani University Are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5051" y="186775"/>
            <a:ext cx="553612" cy="538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7" descr="https://www.ieeesmc.org/wp-content/uploads/2020/01/SMCS_ID_4-12___17_Mar_202011-scaled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62739" y="4677639"/>
            <a:ext cx="991575" cy="297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7" descr="IEEE logo transparent PNG - Stick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253512" y="264050"/>
            <a:ext cx="689363" cy="384404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7"/>
          <p:cNvSpPr txBox="1"/>
          <p:nvPr/>
        </p:nvSpPr>
        <p:spPr>
          <a:xfrm>
            <a:off x="1263870" y="1079505"/>
            <a:ext cx="6789300" cy="684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Prosperity Score : An Alternative Credit Scoring Platform For </a:t>
            </a:r>
            <a:r>
              <a:rPr lang="en" sz="2000" b="1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Lending Informal Workforce</a:t>
            </a:r>
            <a:endParaRPr sz="1100" dirty="0"/>
          </a:p>
        </p:txBody>
      </p:sp>
      <p:sp>
        <p:nvSpPr>
          <p:cNvPr id="62" name="Google Shape;62;p17"/>
          <p:cNvSpPr txBox="1"/>
          <p:nvPr/>
        </p:nvSpPr>
        <p:spPr>
          <a:xfrm>
            <a:off x="1949682" y="1872660"/>
            <a:ext cx="54177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FINAL RESEARCH REPORT — SUBMISSION</a:t>
            </a:r>
            <a:endParaRPr sz="1100"/>
          </a:p>
        </p:txBody>
      </p:sp>
      <p:sp>
        <p:nvSpPr>
          <p:cNvPr id="63" name="Google Shape;63;p17"/>
          <p:cNvSpPr txBox="1"/>
          <p:nvPr/>
        </p:nvSpPr>
        <p:spPr>
          <a:xfrm>
            <a:off x="1915330" y="2241213"/>
            <a:ext cx="54864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IEEE Systems, Man, and Cybernetics Society Student Branch Chapter</a:t>
            </a:r>
            <a:endParaRPr sz="1100"/>
          </a:p>
        </p:txBody>
      </p:sp>
      <p:sp>
        <p:nvSpPr>
          <p:cNvPr id="64" name="Google Shape;64;p17"/>
          <p:cNvSpPr txBox="1"/>
          <p:nvPr/>
        </p:nvSpPr>
        <p:spPr>
          <a:xfrm>
            <a:off x="1880980" y="2662267"/>
            <a:ext cx="54864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Kalyani Government Engineering College (KGEC)</a:t>
            </a:r>
            <a:endParaRPr sz="1100"/>
          </a:p>
        </p:txBody>
      </p:sp>
      <p:sp>
        <p:nvSpPr>
          <p:cNvPr id="65" name="Google Shape;65;p17"/>
          <p:cNvSpPr txBox="1"/>
          <p:nvPr/>
        </p:nvSpPr>
        <p:spPr>
          <a:xfrm>
            <a:off x="1093155" y="3268388"/>
            <a:ext cx="38112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Submitted by</a:t>
            </a:r>
            <a:br>
              <a:rPr lang="en" sz="11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1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Krishnendu Ghosh (B</a:t>
            </a:r>
            <a:r>
              <a:rPr lang="en" sz="1100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Tech AIML Final Year) </a:t>
            </a:r>
            <a:br>
              <a:rPr lang="en" sz="11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1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Animikh Chowdhury (B</a:t>
            </a:r>
            <a:r>
              <a:rPr lang="en" sz="1100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.Sc</a:t>
            </a:r>
            <a:r>
              <a:rPr lang="en" sz="11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Computer Science 2nd Year)</a:t>
            </a:r>
            <a:endParaRPr sz="1100" dirty="0"/>
          </a:p>
        </p:txBody>
      </p:sp>
      <p:sp>
        <p:nvSpPr>
          <p:cNvPr id="66" name="Google Shape;66;p17"/>
          <p:cNvSpPr txBox="1"/>
          <p:nvPr/>
        </p:nvSpPr>
        <p:spPr>
          <a:xfrm>
            <a:off x="5132049" y="3268400"/>
            <a:ext cx="29367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Mentor</a:t>
            </a:r>
            <a:br>
              <a:rPr lang="en" sz="11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1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Mr. Sajal Bhadra</a:t>
            </a:r>
            <a:br>
              <a:rPr lang="en" sz="11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100" b="0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Consultant, TATA Consultancy Service  Limited</a:t>
            </a:r>
            <a:endParaRPr sz="1100" dirty="0"/>
          </a:p>
        </p:txBody>
      </p:sp>
      <p:sp>
        <p:nvSpPr>
          <p:cNvPr id="67" name="Google Shape;67;p17"/>
          <p:cNvSpPr txBox="1"/>
          <p:nvPr/>
        </p:nvSpPr>
        <p:spPr>
          <a:xfrm>
            <a:off x="2601125" y="4022300"/>
            <a:ext cx="41148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 u="none" strike="noStrike" cap="none">
                <a:solidFill>
                  <a:srgbClr val="0B65A3"/>
                </a:solidFill>
                <a:latin typeface="Calibri"/>
                <a:ea typeface="Calibri"/>
                <a:cs typeface="Calibri"/>
                <a:sym typeface="Calibri"/>
              </a:rPr>
              <a:t>Summer Research Internship Programme 2026</a:t>
            </a:r>
            <a:endParaRPr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8" descr="/home/claude/icon_introduction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9246" y="963823"/>
            <a:ext cx="400746" cy="350131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8"/>
          <p:cNvSpPr/>
          <p:nvPr/>
        </p:nvSpPr>
        <p:spPr>
          <a:xfrm>
            <a:off x="3821900" y="110000"/>
            <a:ext cx="1844400" cy="5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libri"/>
              <a:buNone/>
            </a:pPr>
            <a:r>
              <a:rPr lang="en" sz="2500" b="1" i="0" u="none" strike="noStrike" cap="none">
                <a:solidFill>
                  <a:srgbClr val="1E276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250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" name="Google Shape;75;p18"/>
          <p:cNvSpPr/>
          <p:nvPr/>
        </p:nvSpPr>
        <p:spPr>
          <a:xfrm>
            <a:off x="271850" y="4891675"/>
            <a:ext cx="32922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B72"/>
              </a:buClr>
              <a:buSzPts val="800"/>
              <a:buFont typeface="Calibri"/>
              <a:buNone/>
            </a:pPr>
            <a:r>
              <a:rPr lang="en" sz="800" b="0" i="0" u="none" strike="noStrike" cap="none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IEEE SMC Student Branch Chapter  •  Kalyani Government Engineering College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" name="Google Shape;76;p18" descr="Kalyani Government Engineering College | Kalyani University Area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1326" y="171450"/>
            <a:ext cx="553612" cy="538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8" descr="https://www.ieeesmc.org/wp-content/uploads/2020/01/SMCS_ID_4-12___17_Mar_202011-scaled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21901" y="4845639"/>
            <a:ext cx="991577" cy="297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8" descr="IEEE logo transparent PNG - Stick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57499" y="171450"/>
            <a:ext cx="689363" cy="384404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8"/>
          <p:cNvSpPr txBox="1"/>
          <p:nvPr/>
        </p:nvSpPr>
        <p:spPr>
          <a:xfrm>
            <a:off x="2112095" y="686700"/>
            <a:ext cx="6339300" cy="12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Traditional credit scoring systems primarily rely on an individual's established credit history and previous financial records. This creates a challenge for individuals who have little or no traditional credit history, even when they may have a stable income and responsible financial behaviour.</a:t>
            </a:r>
            <a:endParaRPr sz="11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a result, </a:t>
            </a:r>
            <a:r>
              <a:rPr lang="en" sz="11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gig workers, self-employed individuals, small business owners, and first-time borrowers</a:t>
            </a:r>
            <a:r>
              <a:rPr lang="en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may have limited representation in conventional credit assessment systems.</a:t>
            </a:r>
            <a:endParaRPr dirty="0"/>
          </a:p>
        </p:txBody>
      </p:sp>
      <p:sp>
        <p:nvSpPr>
          <p:cNvPr id="81" name="Google Shape;81;p18"/>
          <p:cNvSpPr txBox="1"/>
          <p:nvPr/>
        </p:nvSpPr>
        <p:spPr>
          <a:xfrm>
            <a:off x="1505199" y="1925777"/>
            <a:ext cx="7553091" cy="326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  <a:spcBef>
                <a:spcPts val="1200"/>
              </a:spcBef>
            </a:pPr>
            <a:r>
              <a:rPr lang="en-IN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Demo - </a:t>
            </a:r>
            <a:r>
              <a:rPr lang="en-IN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7"/>
              </a:rPr>
              <a:t>https://drive.google.com/file/d/1RDHF3oEpRoTGEQ17J6pC-iPHTaA9u8Ja/view?usp=sharing</a:t>
            </a:r>
            <a:r>
              <a:rPr lang="en-IN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 lang="en" sz="11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Prosperity Score</a:t>
            </a:r>
            <a:r>
              <a:rPr lang="en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an alternative credit scoring platform designed to analyse data from bank statements and generate a financial assessment based on real transaction behaviour.</a:t>
            </a:r>
            <a:endParaRPr sz="11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system:</a:t>
            </a:r>
            <a:endParaRPr sz="11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Accepts and processes bank-statement data.</a:t>
            </a:r>
            <a:endParaRPr sz="11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Standardizes transaction information.</a:t>
            </a:r>
            <a:endParaRPr sz="11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Categorizes financial transactions.</a:t>
            </a:r>
            <a:endParaRPr sz="11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Extracts insights related to </a:t>
            </a:r>
            <a:r>
              <a:rPr lang="en" sz="11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Income, Expenses, Cashflow, Repayment, and Behaviour</a:t>
            </a:r>
            <a:r>
              <a:rPr lang="en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1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Combines the relevant financial metrics to generate a </a:t>
            </a:r>
            <a:r>
              <a:rPr lang="en" sz="11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Prosperity Score on a 300–900 scale</a:t>
            </a:r>
            <a:r>
              <a:rPr lang="en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1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</a:t>
            </a:r>
            <a:r>
              <a:rPr lang="en" sz="11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risk classification, eligibility information, estimated EMI, approximate loan amount, and explainable reasons</a:t>
            </a:r>
            <a:r>
              <a:rPr lang="en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supporting the assessment.</a:t>
            </a:r>
            <a:endParaRPr sz="11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b="1" dirty="0">
              <a:solidFill>
                <a:srgbClr val="1E276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" name="Google Shape;82;p18"/>
          <p:cNvSpPr txBox="1"/>
          <p:nvPr/>
        </p:nvSpPr>
        <p:spPr>
          <a:xfrm>
            <a:off x="0" y="1237066"/>
            <a:ext cx="2234485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u="sng" dirty="0">
                <a:solidFill>
                  <a:srgbClr val="1E276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</a:t>
            </a:r>
            <a:endParaRPr sz="1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E28B61-3746-E22B-9CD7-8552124638E3}"/>
              </a:ext>
            </a:extLst>
          </p:cNvPr>
          <p:cNvSpPr txBox="1"/>
          <p:nvPr/>
        </p:nvSpPr>
        <p:spPr>
          <a:xfrm>
            <a:off x="108301" y="3109372"/>
            <a:ext cx="196263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5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/>
          <p:nvPr/>
        </p:nvSpPr>
        <p:spPr>
          <a:xfrm>
            <a:off x="3247800" y="262350"/>
            <a:ext cx="26484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400"/>
              <a:buFont typeface="Cambria"/>
              <a:buNone/>
            </a:pPr>
            <a:r>
              <a:rPr lang="en" sz="24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Literature Study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9"/>
          <p:cNvSpPr/>
          <p:nvPr/>
        </p:nvSpPr>
        <p:spPr>
          <a:xfrm>
            <a:off x="2776725" y="617250"/>
            <a:ext cx="37395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00"/>
              <a:buFont typeface="Calibri"/>
              <a:buNone/>
            </a:pPr>
            <a:r>
              <a:rPr lang="en" sz="1000" b="0" i="1" u="none" strike="noStrike" cap="non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Alternative Credit Scoring for Thin-File Borrowers  —  Prosperity Score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9"/>
          <p:cNvSpPr/>
          <p:nvPr/>
        </p:nvSpPr>
        <p:spPr>
          <a:xfrm>
            <a:off x="342900" y="994410"/>
            <a:ext cx="8435340" cy="534924"/>
          </a:xfrm>
          <a:prstGeom prst="roundRect">
            <a:avLst>
              <a:gd name="adj" fmla="val 7692"/>
            </a:avLst>
          </a:prstGeom>
          <a:solidFill>
            <a:srgbClr val="F4F7FC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9"/>
          <p:cNvSpPr/>
          <p:nvPr/>
        </p:nvSpPr>
        <p:spPr>
          <a:xfrm>
            <a:off x="493776" y="1104138"/>
            <a:ext cx="315468" cy="31546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9"/>
          <p:cNvSpPr/>
          <p:nvPr/>
        </p:nvSpPr>
        <p:spPr>
          <a:xfrm>
            <a:off x="493776" y="1104138"/>
            <a:ext cx="315468" cy="3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9"/>
          <p:cNvSpPr/>
          <p:nvPr/>
        </p:nvSpPr>
        <p:spPr>
          <a:xfrm>
            <a:off x="973836" y="994410"/>
            <a:ext cx="5280660" cy="534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lang="en" sz="9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AI-Based Credit Assessment in Digital Lending (2026)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00"/>
              <a:buFont typeface="Calibri"/>
              <a:buNone/>
            </a:pPr>
            <a:r>
              <a:rPr lang="en" sz="8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Alternative data such as transaction streams enables scoring thin-file borrowers who lack bureau history.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9"/>
          <p:cNvSpPr/>
          <p:nvPr/>
        </p:nvSpPr>
        <p:spPr>
          <a:xfrm>
            <a:off x="6377940" y="994410"/>
            <a:ext cx="2263140" cy="534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B6A5"/>
              </a:buClr>
              <a:buSzPts val="800"/>
              <a:buFont typeface="Calibri"/>
              <a:buNone/>
            </a:pPr>
            <a:r>
              <a:rPr lang="en" sz="800" b="1" i="1" u="none" strike="noStrike" cap="none">
                <a:solidFill>
                  <a:srgbClr val="2FB6A5"/>
                </a:solidFill>
                <a:latin typeface="Calibri"/>
                <a:ea typeface="Calibri"/>
                <a:cs typeface="Calibri"/>
                <a:sym typeface="Calibri"/>
              </a:rPr>
              <a:t>→  Justifies bank-statement input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9"/>
          <p:cNvSpPr/>
          <p:nvPr/>
        </p:nvSpPr>
        <p:spPr>
          <a:xfrm>
            <a:off x="342900" y="1611630"/>
            <a:ext cx="8435340" cy="534924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9"/>
          <p:cNvSpPr/>
          <p:nvPr/>
        </p:nvSpPr>
        <p:spPr>
          <a:xfrm>
            <a:off x="493776" y="1721358"/>
            <a:ext cx="315468" cy="31546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9"/>
          <p:cNvSpPr/>
          <p:nvPr/>
        </p:nvSpPr>
        <p:spPr>
          <a:xfrm>
            <a:off x="493776" y="1721358"/>
            <a:ext cx="315468" cy="3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9"/>
          <p:cNvSpPr/>
          <p:nvPr/>
        </p:nvSpPr>
        <p:spPr>
          <a:xfrm>
            <a:off x="973836" y="1611630"/>
            <a:ext cx="5280660" cy="534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lang="en" sz="9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Muñoz-Cancino et al. — Thin-File Creditworthiness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00"/>
              <a:buFont typeface="Calibri"/>
              <a:buNone/>
            </a:pPr>
            <a:r>
              <a:rPr lang="en" sz="8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Alternative behavioral data via feature engineering assesses borrowers with no formal credit history.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9"/>
          <p:cNvSpPr/>
          <p:nvPr/>
        </p:nvSpPr>
        <p:spPr>
          <a:xfrm>
            <a:off x="6377940" y="1611630"/>
            <a:ext cx="2263140" cy="534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B6A5"/>
              </a:buClr>
              <a:buSzPts val="800"/>
              <a:buFont typeface="Calibri"/>
              <a:buNone/>
            </a:pPr>
            <a:r>
              <a:rPr lang="en" sz="800" b="1" i="1" u="none" strike="noStrike" cap="none">
                <a:solidFill>
                  <a:srgbClr val="2FB6A5"/>
                </a:solidFill>
                <a:latin typeface="Calibri"/>
                <a:ea typeface="Calibri"/>
                <a:cs typeface="Calibri"/>
                <a:sym typeface="Calibri"/>
              </a:rPr>
              <a:t>→  Validates 5-pillar features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9"/>
          <p:cNvSpPr/>
          <p:nvPr/>
        </p:nvSpPr>
        <p:spPr>
          <a:xfrm>
            <a:off x="342900" y="2228850"/>
            <a:ext cx="8435340" cy="534924"/>
          </a:xfrm>
          <a:prstGeom prst="roundRect">
            <a:avLst>
              <a:gd name="adj" fmla="val 7692"/>
            </a:avLst>
          </a:prstGeom>
          <a:solidFill>
            <a:srgbClr val="F4F7FC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9"/>
          <p:cNvSpPr/>
          <p:nvPr/>
        </p:nvSpPr>
        <p:spPr>
          <a:xfrm>
            <a:off x="493776" y="2338578"/>
            <a:ext cx="315468" cy="31546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9"/>
          <p:cNvSpPr/>
          <p:nvPr/>
        </p:nvSpPr>
        <p:spPr>
          <a:xfrm>
            <a:off x="493776" y="2338578"/>
            <a:ext cx="315468" cy="3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9"/>
          <p:cNvSpPr/>
          <p:nvPr/>
        </p:nvSpPr>
        <p:spPr>
          <a:xfrm>
            <a:off x="973836" y="2228850"/>
            <a:ext cx="5280660" cy="534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lang="en" sz="9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ML-Powered Credit Scoring — Systematic Review (2025)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00"/>
              <a:buFont typeface="Calibri"/>
              <a:buNone/>
            </a:pPr>
            <a:r>
              <a:rPr lang="en" sz="8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ML captures nonlinear alternative-data patterns; SHAP/LIME enable regulator-friendly transparency.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9"/>
          <p:cNvSpPr/>
          <p:nvPr/>
        </p:nvSpPr>
        <p:spPr>
          <a:xfrm>
            <a:off x="6377940" y="2228850"/>
            <a:ext cx="2263140" cy="534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B6A5"/>
              </a:buClr>
              <a:buSzPts val="800"/>
              <a:buFont typeface="Calibri"/>
              <a:buNone/>
            </a:pPr>
            <a:r>
              <a:rPr lang="en" sz="800" b="1" i="1" u="none" strike="noStrike" cap="none">
                <a:solidFill>
                  <a:srgbClr val="2FB6A5"/>
                </a:solidFill>
                <a:latin typeface="Calibri"/>
                <a:ea typeface="Calibri"/>
                <a:cs typeface="Calibri"/>
                <a:sym typeface="Calibri"/>
              </a:rPr>
              <a:t>→  Scoring + explainability engine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9"/>
          <p:cNvSpPr/>
          <p:nvPr/>
        </p:nvSpPr>
        <p:spPr>
          <a:xfrm>
            <a:off x="342900" y="2846070"/>
            <a:ext cx="8435340" cy="534924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9"/>
          <p:cNvSpPr/>
          <p:nvPr/>
        </p:nvSpPr>
        <p:spPr>
          <a:xfrm>
            <a:off x="493776" y="2955798"/>
            <a:ext cx="315468" cy="31546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9"/>
          <p:cNvSpPr/>
          <p:nvPr/>
        </p:nvSpPr>
        <p:spPr>
          <a:xfrm>
            <a:off x="493776" y="2955798"/>
            <a:ext cx="315468" cy="3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9"/>
          <p:cNvSpPr/>
          <p:nvPr/>
        </p:nvSpPr>
        <p:spPr>
          <a:xfrm>
            <a:off x="973836" y="2846070"/>
            <a:ext cx="5280660" cy="534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lang="en" sz="9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NLP / TF-IDF Transaction Categorization (2022–25)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00"/>
              <a:buFont typeface="Calibri"/>
              <a:buNone/>
            </a:pPr>
            <a:r>
              <a:rPr lang="en" sz="8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TF-IDF with supervised classifiers remains a strong baseline for auto-categorizing transaction text.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9"/>
          <p:cNvSpPr/>
          <p:nvPr/>
        </p:nvSpPr>
        <p:spPr>
          <a:xfrm>
            <a:off x="6377940" y="2846070"/>
            <a:ext cx="2263140" cy="534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B6A5"/>
              </a:buClr>
              <a:buSzPts val="800"/>
              <a:buFont typeface="Calibri"/>
              <a:buNone/>
            </a:pPr>
            <a:r>
              <a:rPr lang="en" sz="800" b="1" i="1" u="none" strike="noStrike" cap="none">
                <a:solidFill>
                  <a:srgbClr val="2FB6A5"/>
                </a:solidFill>
                <a:latin typeface="Calibri"/>
                <a:ea typeface="Calibri"/>
                <a:cs typeface="Calibri"/>
                <a:sym typeface="Calibri"/>
              </a:rPr>
              <a:t>→  Mirrors hybrid categorizer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9"/>
          <p:cNvSpPr/>
          <p:nvPr/>
        </p:nvSpPr>
        <p:spPr>
          <a:xfrm>
            <a:off x="342900" y="3463290"/>
            <a:ext cx="8435340" cy="534924"/>
          </a:xfrm>
          <a:prstGeom prst="roundRect">
            <a:avLst>
              <a:gd name="adj" fmla="val 7692"/>
            </a:avLst>
          </a:prstGeom>
          <a:solidFill>
            <a:srgbClr val="F4F7FC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9"/>
          <p:cNvSpPr/>
          <p:nvPr/>
        </p:nvSpPr>
        <p:spPr>
          <a:xfrm>
            <a:off x="493776" y="3573018"/>
            <a:ext cx="315468" cy="31546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19"/>
          <p:cNvSpPr/>
          <p:nvPr/>
        </p:nvSpPr>
        <p:spPr>
          <a:xfrm>
            <a:off x="493776" y="3573018"/>
            <a:ext cx="315468" cy="3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9"/>
          <p:cNvSpPr/>
          <p:nvPr/>
        </p:nvSpPr>
        <p:spPr>
          <a:xfrm>
            <a:off x="973836" y="3463290"/>
            <a:ext cx="5280660" cy="534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lang="en" sz="9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Fintech Credit Innovation for Underserved Borrowers (IFC, 2026)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00"/>
              <a:buFont typeface="Calibri"/>
              <a:buNone/>
            </a:pPr>
            <a:r>
              <a:rPr lang="en" sz="8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Digital payment data captures real economic activity invisible to traditional credit systems.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9"/>
          <p:cNvSpPr/>
          <p:nvPr/>
        </p:nvSpPr>
        <p:spPr>
          <a:xfrm>
            <a:off x="6377940" y="3463290"/>
            <a:ext cx="2263140" cy="534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B6A5"/>
              </a:buClr>
              <a:buSzPts val="800"/>
              <a:buFont typeface="Calibri"/>
              <a:buNone/>
            </a:pPr>
            <a:r>
              <a:rPr lang="en" sz="800" b="1" i="1" u="none" strike="noStrike" cap="none">
                <a:solidFill>
                  <a:srgbClr val="2FB6A5"/>
                </a:solidFill>
                <a:latin typeface="Calibri"/>
                <a:ea typeface="Calibri"/>
                <a:cs typeface="Calibri"/>
                <a:sym typeface="Calibri"/>
              </a:rPr>
              <a:t>→  Financial-inclusion motivation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9"/>
          <p:cNvSpPr/>
          <p:nvPr/>
        </p:nvSpPr>
        <p:spPr>
          <a:xfrm>
            <a:off x="342900" y="4135374"/>
            <a:ext cx="8435340" cy="651510"/>
          </a:xfrm>
          <a:prstGeom prst="roundRect">
            <a:avLst>
              <a:gd name="adj" fmla="val 8421"/>
            </a:avLst>
          </a:prstGeom>
          <a:solidFill>
            <a:srgbClr val="E9F7F5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19"/>
          <p:cNvSpPr/>
          <p:nvPr/>
        </p:nvSpPr>
        <p:spPr>
          <a:xfrm>
            <a:off x="514350" y="4303395"/>
            <a:ext cx="315468" cy="315468"/>
          </a:xfrm>
          <a:prstGeom prst="ellipse">
            <a:avLst/>
          </a:prstGeom>
          <a:solidFill>
            <a:srgbClr val="2FB6A5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19"/>
          <p:cNvSpPr/>
          <p:nvPr/>
        </p:nvSpPr>
        <p:spPr>
          <a:xfrm>
            <a:off x="514350" y="4303395"/>
            <a:ext cx="315468" cy="3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9"/>
          <p:cNvSpPr/>
          <p:nvPr/>
        </p:nvSpPr>
        <p:spPr>
          <a:xfrm>
            <a:off x="973835" y="4108399"/>
            <a:ext cx="7612500" cy="6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lang="en" sz="9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Research Gap:  </a:t>
            </a:r>
            <a:r>
              <a:rPr lang="en" sz="8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Existing work treats categorization, feature engineering, and explainable scoring as separate problems, often on social/mobile data. Prosperity Score unifies all three for Indian bank-statement data into one explainable 300–900 score.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9"/>
          <p:cNvSpPr/>
          <p:nvPr/>
        </p:nvSpPr>
        <p:spPr>
          <a:xfrm>
            <a:off x="4866415" y="4815374"/>
            <a:ext cx="41148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600"/>
              <a:buFont typeface="Calibri"/>
              <a:buNone/>
            </a:pPr>
            <a:r>
              <a:rPr lang="en" sz="600" b="0" i="1" u="none" strike="noStrike" cap="non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Sources: ScienceDirect · Springer Artificial Intelligence Review · arXiv · IFC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19" descr="IEEE logo transparent PNG - Stick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57499" y="171450"/>
            <a:ext cx="689363" cy="384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9" descr="Kalyani Government Engineering College | Kalyani University Area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1326" y="171450"/>
            <a:ext cx="553612" cy="538948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9"/>
          <p:cNvSpPr/>
          <p:nvPr/>
        </p:nvSpPr>
        <p:spPr>
          <a:xfrm>
            <a:off x="163125" y="4870175"/>
            <a:ext cx="32694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B72"/>
              </a:buClr>
              <a:buSzPts val="800"/>
              <a:buFont typeface="Calibri"/>
              <a:buNone/>
            </a:pPr>
            <a:r>
              <a:rPr lang="en" sz="800" b="0" i="0" u="none" strike="noStrike" cap="none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IEEE SMC Student Branch Chapter  •  Kalyani Government Engineering College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19" descr="https://www.ieeesmc.org/wp-content/uploads/2020/01/SMCS_ID_4-12___17_Mar_202011-scaled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72511" y="4846173"/>
            <a:ext cx="798984" cy="2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/>
          <p:nvPr/>
        </p:nvSpPr>
        <p:spPr>
          <a:xfrm>
            <a:off x="2691400" y="219325"/>
            <a:ext cx="40059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400"/>
              <a:buFont typeface="Cambria"/>
              <a:buNone/>
            </a:pPr>
            <a:r>
              <a:rPr lang="en" sz="24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Contribution to the Field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0"/>
          <p:cNvSpPr/>
          <p:nvPr/>
        </p:nvSpPr>
        <p:spPr>
          <a:xfrm>
            <a:off x="3004550" y="617250"/>
            <a:ext cx="30606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00"/>
              <a:buFont typeface="Calibri"/>
              <a:buNone/>
            </a:pPr>
            <a:r>
              <a:rPr lang="en" sz="1000" b="0" i="1" u="none" strike="noStrike" cap="non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What Prosperity Score Adds Beyond Existing Literature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0"/>
          <p:cNvSpPr/>
          <p:nvPr/>
        </p:nvSpPr>
        <p:spPr>
          <a:xfrm>
            <a:off x="342900" y="994410"/>
            <a:ext cx="8435340" cy="534924"/>
          </a:xfrm>
          <a:prstGeom prst="roundRect">
            <a:avLst>
              <a:gd name="adj" fmla="val 7692"/>
            </a:avLst>
          </a:prstGeom>
          <a:solidFill>
            <a:srgbClr val="F4F7FC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20"/>
          <p:cNvSpPr/>
          <p:nvPr/>
        </p:nvSpPr>
        <p:spPr>
          <a:xfrm>
            <a:off x="493776" y="1104138"/>
            <a:ext cx="315468" cy="31546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20"/>
          <p:cNvSpPr/>
          <p:nvPr/>
        </p:nvSpPr>
        <p:spPr>
          <a:xfrm>
            <a:off x="493776" y="1104138"/>
            <a:ext cx="315468" cy="3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0"/>
          <p:cNvSpPr/>
          <p:nvPr/>
        </p:nvSpPr>
        <p:spPr>
          <a:xfrm>
            <a:off x="973836" y="994410"/>
            <a:ext cx="5280660" cy="534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lang="en" sz="9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Unified End-to-End Pipeline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00"/>
              <a:buFont typeface="Calibri"/>
              <a:buNone/>
            </a:pPr>
            <a:r>
              <a:rPr lang="en" sz="8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Combines categorization, feature engineering, and explainable scoring in one system, not three separate research problems.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0"/>
          <p:cNvSpPr/>
          <p:nvPr/>
        </p:nvSpPr>
        <p:spPr>
          <a:xfrm>
            <a:off x="6377940" y="994410"/>
            <a:ext cx="2263140" cy="534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B6A5"/>
              </a:buClr>
              <a:buSzPts val="800"/>
              <a:buFont typeface="Calibri"/>
              <a:buNone/>
            </a:pPr>
            <a:r>
              <a:rPr lang="en" sz="800" b="1" i="1" u="none" strike="noStrike" cap="none">
                <a:solidFill>
                  <a:srgbClr val="2FB6A5"/>
                </a:solidFill>
                <a:latin typeface="Calibri"/>
                <a:ea typeface="Calibri"/>
                <a:cs typeface="Calibri"/>
                <a:sym typeface="Calibri"/>
              </a:rPr>
              <a:t>→  Closes the pipeline gap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0"/>
          <p:cNvSpPr/>
          <p:nvPr/>
        </p:nvSpPr>
        <p:spPr>
          <a:xfrm>
            <a:off x="342900" y="1611630"/>
            <a:ext cx="8435340" cy="534924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20"/>
          <p:cNvSpPr/>
          <p:nvPr/>
        </p:nvSpPr>
        <p:spPr>
          <a:xfrm>
            <a:off x="493776" y="1721358"/>
            <a:ext cx="315468" cy="31546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20"/>
          <p:cNvSpPr/>
          <p:nvPr/>
        </p:nvSpPr>
        <p:spPr>
          <a:xfrm>
            <a:off x="493776" y="1721358"/>
            <a:ext cx="315468" cy="3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0"/>
          <p:cNvSpPr/>
          <p:nvPr/>
        </p:nvSpPr>
        <p:spPr>
          <a:xfrm>
            <a:off x="973836" y="1611630"/>
            <a:ext cx="5280660" cy="534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lang="en" sz="9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India-Specific Alternative Data Source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00"/>
              <a:buFont typeface="Calibri"/>
              <a:buNone/>
            </a:pPr>
            <a:r>
              <a:rPr lang="en" sz="8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Scores directly from raw bank statements, targeting India's cash/UPI-heavy population rather than social or mobile datasets.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0"/>
          <p:cNvSpPr/>
          <p:nvPr/>
        </p:nvSpPr>
        <p:spPr>
          <a:xfrm>
            <a:off x="6377940" y="1611630"/>
            <a:ext cx="2263140" cy="534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B6A5"/>
              </a:buClr>
              <a:buSzPts val="800"/>
              <a:buFont typeface="Calibri"/>
              <a:buNone/>
            </a:pPr>
            <a:r>
              <a:rPr lang="en" sz="800" b="1" i="1" u="none" strike="noStrike" cap="none">
                <a:solidFill>
                  <a:srgbClr val="2FB6A5"/>
                </a:solidFill>
                <a:latin typeface="Calibri"/>
                <a:ea typeface="Calibri"/>
                <a:cs typeface="Calibri"/>
                <a:sym typeface="Calibri"/>
              </a:rPr>
              <a:t>→  Extends thin-file scoring to India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0"/>
          <p:cNvSpPr/>
          <p:nvPr/>
        </p:nvSpPr>
        <p:spPr>
          <a:xfrm>
            <a:off x="342900" y="2228850"/>
            <a:ext cx="8435340" cy="534924"/>
          </a:xfrm>
          <a:prstGeom prst="roundRect">
            <a:avLst>
              <a:gd name="adj" fmla="val 7692"/>
            </a:avLst>
          </a:prstGeom>
          <a:solidFill>
            <a:srgbClr val="F4F7FC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20"/>
          <p:cNvSpPr/>
          <p:nvPr/>
        </p:nvSpPr>
        <p:spPr>
          <a:xfrm>
            <a:off x="493776" y="2338578"/>
            <a:ext cx="315468" cy="31546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20"/>
          <p:cNvSpPr/>
          <p:nvPr/>
        </p:nvSpPr>
        <p:spPr>
          <a:xfrm>
            <a:off x="493776" y="2338578"/>
            <a:ext cx="315468" cy="3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0"/>
          <p:cNvSpPr/>
          <p:nvPr/>
        </p:nvSpPr>
        <p:spPr>
          <a:xfrm>
            <a:off x="973836" y="2228850"/>
            <a:ext cx="5280660" cy="534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lang="en" sz="9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Hybrid Categorizer Built for Real-World Noise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00"/>
              <a:buFont typeface="Calibri"/>
              <a:buNone/>
            </a:pPr>
            <a:r>
              <a:rPr lang="en" sz="8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Rule-based + TF-IDF/Logistic Regression categorizer handles UPI vendor patterns and inconsistent statement formats.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0"/>
          <p:cNvSpPr/>
          <p:nvPr/>
        </p:nvSpPr>
        <p:spPr>
          <a:xfrm>
            <a:off x="6377940" y="2228850"/>
            <a:ext cx="2263140" cy="534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B6A5"/>
              </a:buClr>
              <a:buSzPts val="800"/>
              <a:buFont typeface="Calibri"/>
              <a:buNone/>
            </a:pPr>
            <a:r>
              <a:rPr lang="en" sz="800" b="1" i="1" u="none" strike="noStrike" cap="none">
                <a:solidFill>
                  <a:srgbClr val="2FB6A5"/>
                </a:solidFill>
                <a:latin typeface="Calibri"/>
                <a:ea typeface="Calibri"/>
                <a:cs typeface="Calibri"/>
                <a:sym typeface="Calibri"/>
              </a:rPr>
              <a:t>→  Practical robustness, not just accuracy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0"/>
          <p:cNvSpPr/>
          <p:nvPr/>
        </p:nvSpPr>
        <p:spPr>
          <a:xfrm>
            <a:off x="342900" y="2846070"/>
            <a:ext cx="8435340" cy="534924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20"/>
          <p:cNvSpPr/>
          <p:nvPr/>
        </p:nvSpPr>
        <p:spPr>
          <a:xfrm>
            <a:off x="493776" y="2955798"/>
            <a:ext cx="315468" cy="31546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20"/>
          <p:cNvSpPr/>
          <p:nvPr/>
        </p:nvSpPr>
        <p:spPr>
          <a:xfrm>
            <a:off x="493776" y="2955798"/>
            <a:ext cx="315468" cy="3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0"/>
          <p:cNvSpPr/>
          <p:nvPr/>
        </p:nvSpPr>
        <p:spPr>
          <a:xfrm>
            <a:off x="973836" y="2846070"/>
            <a:ext cx="5280660" cy="534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lang="en" sz="9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Transparent, Multi-Pillar Scoring Engine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00"/>
              <a:buFont typeface="Calibri"/>
              <a:buNone/>
            </a:pPr>
            <a:r>
              <a:rPr lang="en" sz="8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Weighted scoring across five pillars yields a bureau-style 300–900 score with pillar-level, human-readable explanations.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0"/>
          <p:cNvSpPr/>
          <p:nvPr/>
        </p:nvSpPr>
        <p:spPr>
          <a:xfrm>
            <a:off x="6377940" y="2846070"/>
            <a:ext cx="2263140" cy="534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B6A5"/>
              </a:buClr>
              <a:buSzPts val="800"/>
              <a:buFont typeface="Calibri"/>
              <a:buNone/>
            </a:pPr>
            <a:r>
              <a:rPr lang="en" sz="800" b="1" i="1" u="none" strike="noStrike" cap="none">
                <a:solidFill>
                  <a:srgbClr val="2FB6A5"/>
                </a:solidFill>
                <a:latin typeface="Calibri"/>
                <a:ea typeface="Calibri"/>
                <a:cs typeface="Calibri"/>
                <a:sym typeface="Calibri"/>
              </a:rPr>
              <a:t>→  Operationalizes transparency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0"/>
          <p:cNvSpPr/>
          <p:nvPr/>
        </p:nvSpPr>
        <p:spPr>
          <a:xfrm>
            <a:off x="342900" y="3463290"/>
            <a:ext cx="8435340" cy="534924"/>
          </a:xfrm>
          <a:prstGeom prst="roundRect">
            <a:avLst>
              <a:gd name="adj" fmla="val 7692"/>
            </a:avLst>
          </a:prstGeom>
          <a:solidFill>
            <a:srgbClr val="F4F7FC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20"/>
          <p:cNvSpPr/>
          <p:nvPr/>
        </p:nvSpPr>
        <p:spPr>
          <a:xfrm>
            <a:off x="493776" y="3573018"/>
            <a:ext cx="315468" cy="31546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20"/>
          <p:cNvSpPr/>
          <p:nvPr/>
        </p:nvSpPr>
        <p:spPr>
          <a:xfrm>
            <a:off x="493776" y="3573018"/>
            <a:ext cx="315468" cy="3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0"/>
          <p:cNvSpPr/>
          <p:nvPr/>
        </p:nvSpPr>
        <p:spPr>
          <a:xfrm>
            <a:off x="973836" y="3463290"/>
            <a:ext cx="5280660" cy="534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lang="en" sz="9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Deployable, Validated Prototype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00"/>
              <a:buFont typeface="Calibri"/>
              <a:buNone/>
            </a:pPr>
            <a:r>
              <a:rPr lang="en" sz="8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Full-stack system (FastAPI + React) validated on real vendor statements and synthetic edge cases, not just a research model.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0"/>
          <p:cNvSpPr/>
          <p:nvPr/>
        </p:nvSpPr>
        <p:spPr>
          <a:xfrm>
            <a:off x="6377940" y="3463290"/>
            <a:ext cx="2263140" cy="534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B6A5"/>
              </a:buClr>
              <a:buSzPts val="800"/>
              <a:buFont typeface="Calibri"/>
              <a:buNone/>
            </a:pPr>
            <a:r>
              <a:rPr lang="en" sz="800" b="1" i="1" u="none" strike="noStrike" cap="none">
                <a:solidFill>
                  <a:srgbClr val="2FB6A5"/>
                </a:solidFill>
                <a:latin typeface="Calibri"/>
                <a:ea typeface="Calibri"/>
                <a:cs typeface="Calibri"/>
                <a:sym typeface="Calibri"/>
              </a:rPr>
              <a:t>→  Bridges research to deployment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0"/>
          <p:cNvSpPr/>
          <p:nvPr/>
        </p:nvSpPr>
        <p:spPr>
          <a:xfrm>
            <a:off x="342900" y="4135374"/>
            <a:ext cx="8435340" cy="651510"/>
          </a:xfrm>
          <a:prstGeom prst="roundRect">
            <a:avLst>
              <a:gd name="adj" fmla="val 8421"/>
            </a:avLst>
          </a:prstGeom>
          <a:solidFill>
            <a:srgbClr val="E9F7F5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20"/>
          <p:cNvSpPr/>
          <p:nvPr/>
        </p:nvSpPr>
        <p:spPr>
          <a:xfrm>
            <a:off x="514350" y="4303395"/>
            <a:ext cx="315468" cy="315468"/>
          </a:xfrm>
          <a:prstGeom prst="ellipse">
            <a:avLst/>
          </a:prstGeom>
          <a:solidFill>
            <a:srgbClr val="2FB6A5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20"/>
          <p:cNvSpPr/>
          <p:nvPr/>
        </p:nvSpPr>
        <p:spPr>
          <a:xfrm>
            <a:off x="514350" y="4303395"/>
            <a:ext cx="315468" cy="3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0"/>
          <p:cNvSpPr/>
          <p:nvPr/>
        </p:nvSpPr>
        <p:spPr>
          <a:xfrm>
            <a:off x="994410" y="4135374"/>
            <a:ext cx="7612380" cy="651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lang="en" sz="9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Net Contribution:  </a:t>
            </a:r>
            <a:r>
              <a:rPr lang="en" sz="8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Prosperity Score operationalizes alternative-data credit scoring for India's thin-file, cash-based borrowers as a deployable, explainable, end-to-end system, rather than an isolated academic model.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0" name="Google Shape;160;p20" descr="Kalyani Government Engineering College | Kalyani University Are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1326" y="171450"/>
            <a:ext cx="553612" cy="538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0" descr="IEEE logo transparent PNG - Stick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57499" y="171450"/>
            <a:ext cx="689363" cy="384404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0"/>
          <p:cNvSpPr/>
          <p:nvPr/>
        </p:nvSpPr>
        <p:spPr>
          <a:xfrm>
            <a:off x="180725" y="4863275"/>
            <a:ext cx="33039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B72"/>
              </a:buClr>
              <a:buSzPts val="800"/>
              <a:buFont typeface="Calibri"/>
              <a:buNone/>
            </a:pPr>
            <a:r>
              <a:rPr lang="en" sz="800" b="0" i="0" u="none" strike="noStrike" cap="none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IEEE SMC Student Branch Chapter  •  Kalyani Government Engineering College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3" name="Google Shape;163;p20" descr="https://www.ieeesmc.org/wp-content/uploads/2020/01/SMCS_ID_4-12___17_Mar_202011-scaled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72511" y="4846173"/>
            <a:ext cx="798984" cy="2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1"/>
          <p:cNvSpPr/>
          <p:nvPr/>
        </p:nvSpPr>
        <p:spPr>
          <a:xfrm>
            <a:off x="3730950" y="198575"/>
            <a:ext cx="18855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400"/>
              <a:buFont typeface="Cambria"/>
              <a:buNone/>
            </a:pPr>
            <a:r>
              <a:rPr lang="en" sz="24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Methodology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1"/>
          <p:cNvSpPr/>
          <p:nvPr/>
        </p:nvSpPr>
        <p:spPr>
          <a:xfrm>
            <a:off x="3487625" y="637725"/>
            <a:ext cx="25602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00"/>
              <a:buFont typeface="Calibri"/>
              <a:buNone/>
            </a:pPr>
            <a:r>
              <a:rPr lang="en" sz="1000" b="0" i="1" u="none" strike="noStrike" cap="non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Prosperity Score — End-to-End Scoring Pipeline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1"/>
          <p:cNvSpPr/>
          <p:nvPr/>
        </p:nvSpPr>
        <p:spPr>
          <a:xfrm>
            <a:off x="462915" y="905256"/>
            <a:ext cx="41148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B6A5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2FB6A5"/>
                </a:solidFill>
                <a:latin typeface="Calibri"/>
                <a:ea typeface="Calibri"/>
                <a:cs typeface="Calibri"/>
                <a:sym typeface="Calibri"/>
              </a:rPr>
              <a:t>PROCESSING PIPELINE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1"/>
          <p:cNvSpPr/>
          <p:nvPr/>
        </p:nvSpPr>
        <p:spPr>
          <a:xfrm>
            <a:off x="257800" y="1110975"/>
            <a:ext cx="1474500" cy="1632000"/>
          </a:xfrm>
          <a:prstGeom prst="roundRect">
            <a:avLst>
              <a:gd name="adj" fmla="val 3721"/>
            </a:avLst>
          </a:prstGeom>
          <a:solidFill>
            <a:srgbClr val="F4F7FC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21"/>
          <p:cNvSpPr/>
          <p:nvPr/>
        </p:nvSpPr>
        <p:spPr>
          <a:xfrm>
            <a:off x="806530" y="1234540"/>
            <a:ext cx="377100" cy="3771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21"/>
          <p:cNvSpPr/>
          <p:nvPr/>
        </p:nvSpPr>
        <p:spPr>
          <a:xfrm>
            <a:off x="806580" y="1234628"/>
            <a:ext cx="3771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1"/>
          <p:cNvSpPr/>
          <p:nvPr/>
        </p:nvSpPr>
        <p:spPr>
          <a:xfrm>
            <a:off x="312704" y="1714554"/>
            <a:ext cx="13647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lang="en" sz="9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Data Ingestion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1"/>
          <p:cNvSpPr/>
          <p:nvPr/>
        </p:nvSpPr>
        <p:spPr>
          <a:xfrm>
            <a:off x="346969" y="1975370"/>
            <a:ext cx="1296300" cy="6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00"/>
              <a:buFont typeface="Calibri"/>
              <a:buNone/>
            </a:pPr>
            <a:r>
              <a:rPr lang="en" sz="800" b="0" i="0" u="none" strike="noStrike" cap="none" dirty="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Parse raw bank statement CSVs; validate and normalize dates, amounts, and vendor text.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1"/>
          <p:cNvSpPr/>
          <p:nvPr/>
        </p:nvSpPr>
        <p:spPr>
          <a:xfrm>
            <a:off x="1757635" y="1796796"/>
            <a:ext cx="205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FB6A5"/>
              </a:buClr>
              <a:buSzPts val="2300"/>
              <a:buFont typeface="Calibri"/>
              <a:buNone/>
            </a:pPr>
            <a:r>
              <a:rPr lang="en" sz="2300" b="1" i="0" u="none" strike="noStrike" cap="none">
                <a:solidFill>
                  <a:srgbClr val="2FB6A5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1"/>
          <p:cNvSpPr/>
          <p:nvPr/>
        </p:nvSpPr>
        <p:spPr>
          <a:xfrm>
            <a:off x="2013125" y="1110975"/>
            <a:ext cx="1474500" cy="1632000"/>
          </a:xfrm>
          <a:prstGeom prst="roundRect">
            <a:avLst>
              <a:gd name="adj" fmla="val 3721"/>
            </a:avLst>
          </a:prstGeom>
          <a:solidFill>
            <a:srgbClr val="F4F7FC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21"/>
          <p:cNvSpPr/>
          <p:nvPr/>
        </p:nvSpPr>
        <p:spPr>
          <a:xfrm>
            <a:off x="2477225" y="1234625"/>
            <a:ext cx="377100" cy="3771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21"/>
          <p:cNvSpPr/>
          <p:nvPr/>
        </p:nvSpPr>
        <p:spPr>
          <a:xfrm>
            <a:off x="2477215" y="1234615"/>
            <a:ext cx="3771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1"/>
          <p:cNvSpPr/>
          <p:nvPr/>
        </p:nvSpPr>
        <p:spPr>
          <a:xfrm>
            <a:off x="2067989" y="1714504"/>
            <a:ext cx="13647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lang="en" sz="9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Transaction Categorization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1"/>
          <p:cNvSpPr/>
          <p:nvPr/>
        </p:nvSpPr>
        <p:spPr>
          <a:xfrm>
            <a:off x="2102217" y="1947670"/>
            <a:ext cx="1296300" cy="6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00"/>
              <a:buFont typeface="Calibri"/>
              <a:buNone/>
            </a:pPr>
            <a:r>
              <a:rPr lang="en" sz="8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Hybrid rule-based + TF-IDF / Logistic Regression classifier assigns each transaction to 1 of 7 categories.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1"/>
          <p:cNvSpPr/>
          <p:nvPr/>
        </p:nvSpPr>
        <p:spPr>
          <a:xfrm>
            <a:off x="3525145" y="1796796"/>
            <a:ext cx="205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FB6A5"/>
              </a:buClr>
              <a:buSzPts val="2300"/>
              <a:buFont typeface="Calibri"/>
              <a:buNone/>
            </a:pPr>
            <a:r>
              <a:rPr lang="en" sz="2300" b="1" i="0" u="none" strike="noStrike" cap="none">
                <a:solidFill>
                  <a:srgbClr val="2FB6A5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1"/>
          <p:cNvSpPr/>
          <p:nvPr/>
        </p:nvSpPr>
        <p:spPr>
          <a:xfrm>
            <a:off x="3823325" y="1111000"/>
            <a:ext cx="1474500" cy="1632000"/>
          </a:xfrm>
          <a:prstGeom prst="roundRect">
            <a:avLst>
              <a:gd name="adj" fmla="val 3721"/>
            </a:avLst>
          </a:prstGeom>
          <a:solidFill>
            <a:srgbClr val="F4F7FC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21"/>
          <p:cNvSpPr/>
          <p:nvPr/>
        </p:nvSpPr>
        <p:spPr>
          <a:xfrm>
            <a:off x="4371975" y="1234440"/>
            <a:ext cx="377190" cy="37719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21"/>
          <p:cNvSpPr/>
          <p:nvPr/>
        </p:nvSpPr>
        <p:spPr>
          <a:xfrm>
            <a:off x="4371975" y="1234440"/>
            <a:ext cx="377190" cy="37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1"/>
          <p:cNvSpPr/>
          <p:nvPr/>
        </p:nvSpPr>
        <p:spPr>
          <a:xfrm>
            <a:off x="3878199" y="1728216"/>
            <a:ext cx="1364742" cy="37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lang="en" sz="9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Feature Engineering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1"/>
          <p:cNvSpPr/>
          <p:nvPr/>
        </p:nvSpPr>
        <p:spPr>
          <a:xfrm>
            <a:off x="3906539" y="1975107"/>
            <a:ext cx="1296300" cy="6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00"/>
              <a:buFont typeface="Calibri"/>
              <a:buNone/>
            </a:pPr>
            <a:r>
              <a:rPr lang="en" sz="8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Derive signals across 5 pillars: Income, Expense, Cashflow, Repayment, and Behaviour.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1"/>
          <p:cNvSpPr/>
          <p:nvPr/>
        </p:nvSpPr>
        <p:spPr>
          <a:xfrm>
            <a:off x="5297805" y="1796796"/>
            <a:ext cx="2057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FB6A5"/>
              </a:buClr>
              <a:buSzPts val="2300"/>
              <a:buFont typeface="Calibri"/>
              <a:buNone/>
            </a:pPr>
            <a:r>
              <a:rPr lang="en" sz="2300" b="1" i="0" u="none" strike="noStrike" cap="none">
                <a:solidFill>
                  <a:srgbClr val="2FB6A5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1"/>
          <p:cNvSpPr/>
          <p:nvPr/>
        </p:nvSpPr>
        <p:spPr>
          <a:xfrm>
            <a:off x="5561500" y="1148725"/>
            <a:ext cx="1474500" cy="1594200"/>
          </a:xfrm>
          <a:prstGeom prst="roundRect">
            <a:avLst>
              <a:gd name="adj" fmla="val 3721"/>
            </a:avLst>
          </a:prstGeom>
          <a:solidFill>
            <a:srgbClr val="F4F7FC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21"/>
          <p:cNvSpPr/>
          <p:nvPr/>
        </p:nvSpPr>
        <p:spPr>
          <a:xfrm>
            <a:off x="6095048" y="1234440"/>
            <a:ext cx="377100" cy="3771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21"/>
          <p:cNvSpPr/>
          <p:nvPr/>
        </p:nvSpPr>
        <p:spPr>
          <a:xfrm>
            <a:off x="6095085" y="1234490"/>
            <a:ext cx="3771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1"/>
          <p:cNvSpPr/>
          <p:nvPr/>
        </p:nvSpPr>
        <p:spPr>
          <a:xfrm>
            <a:off x="5616397" y="1748829"/>
            <a:ext cx="13647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lang="en" sz="9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Weighted Scoring Engine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1"/>
          <p:cNvSpPr/>
          <p:nvPr/>
        </p:nvSpPr>
        <p:spPr>
          <a:xfrm>
            <a:off x="5621624" y="2050470"/>
            <a:ext cx="1296300" cy="6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00"/>
              <a:buFont typeface="Calibri"/>
              <a:buNone/>
            </a:pPr>
            <a:r>
              <a:rPr lang="en" sz="8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Combine pillar-level features into a bureau-style 300–900 score with loan-eligibility rules.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7035990" y="1796796"/>
            <a:ext cx="205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FB6A5"/>
              </a:buClr>
              <a:buSzPts val="2300"/>
              <a:buFont typeface="Calibri"/>
              <a:buNone/>
            </a:pPr>
            <a:r>
              <a:rPr lang="en" sz="2300" b="1" i="0" u="none" strike="noStrike" cap="none">
                <a:solidFill>
                  <a:srgbClr val="2FB6A5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7299700" y="1140000"/>
            <a:ext cx="1474500" cy="1594200"/>
          </a:xfrm>
          <a:prstGeom prst="roundRect">
            <a:avLst>
              <a:gd name="adj" fmla="val 3721"/>
            </a:avLst>
          </a:prstGeom>
          <a:solidFill>
            <a:srgbClr val="F4F7FC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21"/>
          <p:cNvSpPr/>
          <p:nvPr/>
        </p:nvSpPr>
        <p:spPr>
          <a:xfrm>
            <a:off x="7793500" y="1234488"/>
            <a:ext cx="377100" cy="3771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21"/>
          <p:cNvSpPr/>
          <p:nvPr/>
        </p:nvSpPr>
        <p:spPr>
          <a:xfrm>
            <a:off x="7793508" y="1234490"/>
            <a:ext cx="3771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7299707" y="1728254"/>
            <a:ext cx="13647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lang="en" sz="9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Explainable Output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7388872" y="1968857"/>
            <a:ext cx="1296300" cy="6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00"/>
              <a:buFont typeface="Calibri"/>
              <a:buNone/>
            </a:pPr>
            <a:r>
              <a:rPr lang="en" sz="8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Generate human-readable, pillar-level rationale behind every score and lending decision.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257800" y="2775990"/>
            <a:ext cx="41148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B6A5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2FB6A5"/>
                </a:solidFill>
                <a:latin typeface="Calibri"/>
                <a:ea typeface="Calibri"/>
                <a:cs typeface="Calibri"/>
                <a:sym typeface="Calibri"/>
              </a:rPr>
              <a:t>VALIDATION APPROACH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257800" y="2981730"/>
            <a:ext cx="4011930" cy="1062990"/>
          </a:xfrm>
          <a:prstGeom prst="roundRect">
            <a:avLst>
              <a:gd name="adj" fmla="val 5161"/>
            </a:avLst>
          </a:prstGeom>
          <a:solidFill>
            <a:srgbClr val="E9F7F5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21"/>
          <p:cNvSpPr/>
          <p:nvPr/>
        </p:nvSpPr>
        <p:spPr>
          <a:xfrm>
            <a:off x="429250" y="3307485"/>
            <a:ext cx="411480" cy="411480"/>
          </a:xfrm>
          <a:prstGeom prst="ellipse">
            <a:avLst/>
          </a:prstGeom>
          <a:solidFill>
            <a:srgbClr val="2FB6A5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21"/>
          <p:cNvSpPr/>
          <p:nvPr/>
        </p:nvSpPr>
        <p:spPr>
          <a:xfrm>
            <a:off x="429250" y="3307485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977890" y="3084600"/>
            <a:ext cx="315468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lang="en" sz="9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Real-World Validation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00"/>
              <a:buFont typeface="Calibri"/>
              <a:buNone/>
            </a:pPr>
            <a:r>
              <a:rPr lang="en" sz="8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Pipeline tested end-to-end on real vendor bank statements to confirm categorization and scoring hold up on live, messy data.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4441180" y="2981730"/>
            <a:ext cx="4011930" cy="1062990"/>
          </a:xfrm>
          <a:prstGeom prst="roundRect">
            <a:avLst>
              <a:gd name="adj" fmla="val 5161"/>
            </a:avLst>
          </a:prstGeom>
          <a:solidFill>
            <a:srgbClr val="E9F7F5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21"/>
          <p:cNvSpPr/>
          <p:nvPr/>
        </p:nvSpPr>
        <p:spPr>
          <a:xfrm>
            <a:off x="4612630" y="3307485"/>
            <a:ext cx="411480" cy="411480"/>
          </a:xfrm>
          <a:prstGeom prst="ellipse">
            <a:avLst/>
          </a:prstGeom>
          <a:solidFill>
            <a:srgbClr val="2FB6A5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21"/>
          <p:cNvSpPr/>
          <p:nvPr/>
        </p:nvSpPr>
        <p:spPr>
          <a:xfrm>
            <a:off x="4612630" y="3307485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5161270" y="3084600"/>
            <a:ext cx="315468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lang="en" sz="9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Synthetic Stress-Testing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00"/>
              <a:buFont typeface="Calibri"/>
              <a:buNone/>
            </a:pPr>
            <a:r>
              <a:rPr lang="en" sz="8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Synthetic statements engineered to simulate edge cases, such as loan-rejection profiles, to pressure-test scoring logic pre-deployment.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-1896563" y="4395703"/>
            <a:ext cx="819531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800"/>
              <a:buFont typeface="Calibri"/>
              <a:buNone/>
            </a:pPr>
            <a:r>
              <a:rPr lang="en" sz="800" b="0" i="1" u="none" strike="noStrike" cap="none" dirty="0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Backend: Python · FastAPI      Frontend: React 19 · Vite · Tailwind      Deployment: Render , Vercel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1" name="Google Shape;211;p21" descr="Kalyani Government Engineering College | Kalyani University Are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5051" y="186775"/>
            <a:ext cx="553612" cy="538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1" descr="IEEE logo transparent PNG - Stick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57499" y="171450"/>
            <a:ext cx="689363" cy="384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1" descr="https://www.ieeesmc.org/wp-content/uploads/2020/01/SMCS_ID_4-12___17_Mar_202011-scaled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72511" y="4846173"/>
            <a:ext cx="798984" cy="2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/>
          <p:nvPr/>
        </p:nvSpPr>
        <p:spPr>
          <a:xfrm>
            <a:off x="180725" y="4863275"/>
            <a:ext cx="33039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B72"/>
              </a:buClr>
              <a:buSzPts val="800"/>
              <a:buFont typeface="Calibri"/>
              <a:buNone/>
            </a:pPr>
            <a:r>
              <a:rPr lang="en" sz="800" b="0" i="0" u="none" strike="noStrike" cap="none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IEEE SMC Student Branch Chapter  •  Kalyani Government Engineering College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7E9F6B-E4E6-6762-07D5-7B2D0AB86420}"/>
              </a:ext>
            </a:extLst>
          </p:cNvPr>
          <p:cNvSpPr txBox="1"/>
          <p:nvPr/>
        </p:nvSpPr>
        <p:spPr>
          <a:xfrm>
            <a:off x="3077361" y="4133871"/>
            <a:ext cx="295465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Live - 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6"/>
              </a:rPr>
              <a:t>https://prosperityscore.vercel.app/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endParaRPr lang="en-IN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2" descr="/home/claude/icon_result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77679" y="1207024"/>
            <a:ext cx="473202" cy="473202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/>
          <p:nvPr/>
        </p:nvSpPr>
        <p:spPr>
          <a:xfrm>
            <a:off x="3766209" y="98013"/>
            <a:ext cx="1611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libri"/>
              <a:buNone/>
            </a:pPr>
            <a:r>
              <a:rPr lang="en" sz="30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2"/>
          <p:cNvSpPr/>
          <p:nvPr/>
        </p:nvSpPr>
        <p:spPr>
          <a:xfrm>
            <a:off x="342900" y="4800600"/>
            <a:ext cx="32760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B72"/>
              </a:buClr>
              <a:buSzPts val="800"/>
              <a:buFont typeface="Calibri"/>
              <a:buNone/>
            </a:pPr>
            <a:r>
              <a:rPr lang="en" sz="800" b="0" i="0" u="none" strike="noStrike" cap="none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IEEE SMC Student Branch Chapter  •  Kalyani Government Engineering College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3" name="Google Shape;223;p22" descr="https://www.ieeesmc.org/wp-content/uploads/2020/01/SMCS_ID_4-12___17_Mar_202011-scaled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76214" y="4754539"/>
            <a:ext cx="991575" cy="297861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2"/>
          <p:cNvSpPr/>
          <p:nvPr/>
        </p:nvSpPr>
        <p:spPr>
          <a:xfrm>
            <a:off x="495675" y="831050"/>
            <a:ext cx="1659900" cy="925800"/>
          </a:xfrm>
          <a:prstGeom prst="roundRect">
            <a:avLst>
              <a:gd name="adj" fmla="val 16667"/>
            </a:avLst>
          </a:prstGeom>
          <a:solidFill>
            <a:srgbClr val="F4F5FA"/>
          </a:solidFill>
          <a:ln w="10150" cap="flat" cmpd="sng">
            <a:solidFill>
              <a:srgbClr val="D9DC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109725" tIns="68575" rIns="10972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Test result</a:t>
            </a:r>
            <a:endParaRPr sz="1100"/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Score</a:t>
            </a:r>
            <a:r>
              <a:rPr lang="en" sz="1100" b="0" i="0" u="none" strike="noStrike" cap="none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 out of 900</a:t>
            </a:r>
            <a:endParaRPr sz="800"/>
          </a:p>
        </p:txBody>
      </p:sp>
      <p:sp>
        <p:nvSpPr>
          <p:cNvPr id="225" name="Google Shape;225;p22"/>
          <p:cNvSpPr/>
          <p:nvPr/>
        </p:nvSpPr>
        <p:spPr>
          <a:xfrm>
            <a:off x="495675" y="1846850"/>
            <a:ext cx="1659900" cy="925800"/>
          </a:xfrm>
          <a:prstGeom prst="roundRect">
            <a:avLst>
              <a:gd name="adj" fmla="val 16667"/>
            </a:avLst>
          </a:prstGeom>
          <a:solidFill>
            <a:srgbClr val="F4F5FA"/>
          </a:solidFill>
          <a:ln w="10150" cap="flat" cmpd="sng">
            <a:solidFill>
              <a:srgbClr val="D9DC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109725" tIns="68575" rIns="10972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Risk level</a:t>
            </a:r>
            <a:endParaRPr sz="1100"/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Low/High</a:t>
            </a:r>
            <a:r>
              <a:rPr lang="en" sz="1100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/Medium</a:t>
            </a:r>
            <a:r>
              <a:rPr lang="en" sz="1100" b="0" i="0" u="none" strike="noStrike" cap="none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 Risk</a:t>
            </a:r>
            <a:endParaRPr sz="1100"/>
          </a:p>
        </p:txBody>
      </p:sp>
      <p:sp>
        <p:nvSpPr>
          <p:cNvPr id="226" name="Google Shape;226;p22"/>
          <p:cNvSpPr/>
          <p:nvPr/>
        </p:nvSpPr>
        <p:spPr>
          <a:xfrm>
            <a:off x="495675" y="2892588"/>
            <a:ext cx="1659900" cy="857400"/>
          </a:xfrm>
          <a:prstGeom prst="roundRect">
            <a:avLst>
              <a:gd name="adj" fmla="val 16667"/>
            </a:avLst>
          </a:prstGeom>
          <a:solidFill>
            <a:srgbClr val="F4F5FA"/>
          </a:solidFill>
          <a:ln w="10150" cap="flat" cmpd="sng">
            <a:solidFill>
              <a:srgbClr val="D9DC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109725" tIns="68575" rIns="10972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Eligible EMI </a:t>
            </a:r>
            <a:endParaRPr sz="1000" b="1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Max Loan Amount</a:t>
            </a:r>
            <a:endParaRPr sz="1000" b="1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2"/>
          <p:cNvSpPr/>
          <p:nvPr/>
        </p:nvSpPr>
        <p:spPr>
          <a:xfrm>
            <a:off x="495675" y="3869925"/>
            <a:ext cx="1659900" cy="857400"/>
          </a:xfrm>
          <a:prstGeom prst="roundRect">
            <a:avLst>
              <a:gd name="adj" fmla="val 16667"/>
            </a:avLst>
          </a:prstGeom>
          <a:solidFill>
            <a:srgbClr val="F4F5FA"/>
          </a:solidFill>
          <a:ln w="10150" cap="flat" cmpd="sng">
            <a:solidFill>
              <a:srgbClr val="D9DC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109725" tIns="68575" rIns="109725" bIns="34275" anchor="ctr" anchorCtr="0">
            <a:noAutofit/>
          </a:bodyPr>
          <a:lstStyle/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Explainability </a:t>
            </a:r>
            <a:endParaRPr sz="1000" b="1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000" b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Why this score ?</a:t>
            </a:r>
            <a:endParaRPr sz="1000" b="1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2"/>
          <p:cNvSpPr txBox="1"/>
          <p:nvPr/>
        </p:nvSpPr>
        <p:spPr>
          <a:xfrm>
            <a:off x="3120390" y="4114800"/>
            <a:ext cx="45948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Testing with transaction data samples </a:t>
            </a:r>
            <a:r>
              <a:rPr lang="en" sz="1000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suggest</a:t>
            </a:r>
            <a:r>
              <a:rPr lang="en" sz="1000" b="0" i="0" u="none" strike="noStrike" cap="none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 that each stage was implemented appropriately. The report concludes that bank-statement </a:t>
            </a:r>
            <a:r>
              <a:rPr lang="en" sz="1000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behavior</a:t>
            </a:r>
            <a:r>
              <a:rPr lang="en" sz="1000" b="0" i="0" u="none" strike="noStrike" cap="none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 can be incorporated into credit assessment.</a:t>
            </a:r>
            <a:endParaRPr sz="1100"/>
          </a:p>
        </p:txBody>
      </p:sp>
      <p:pic>
        <p:nvPicPr>
          <p:cNvPr id="229" name="Google Shape;229;p22" descr="Kalyani Government Engineering College | Kalyani University Area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1326" y="171450"/>
            <a:ext cx="553612" cy="538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2" descr="IEEE logo transparent PNG - Stick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57499" y="171450"/>
            <a:ext cx="689363" cy="384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756325" y="819962"/>
            <a:ext cx="5687394" cy="297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3"/>
          <p:cNvSpPr/>
          <p:nvPr/>
        </p:nvSpPr>
        <p:spPr>
          <a:xfrm>
            <a:off x="1591383" y="1111040"/>
            <a:ext cx="788700" cy="7887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8" name="Google Shape;238;p23" descr="/home/claude/icon_comparison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49129" y="1268799"/>
            <a:ext cx="473202" cy="473202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3"/>
          <p:cNvSpPr/>
          <p:nvPr/>
        </p:nvSpPr>
        <p:spPr>
          <a:xfrm>
            <a:off x="617222" y="2091700"/>
            <a:ext cx="30471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libri"/>
              <a:buNone/>
            </a:pPr>
            <a:r>
              <a:rPr lang="en" sz="30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Comparison Study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3"/>
          <p:cNvSpPr/>
          <p:nvPr/>
        </p:nvSpPr>
        <p:spPr>
          <a:xfrm>
            <a:off x="617222" y="2708900"/>
            <a:ext cx="31689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B72"/>
              </a:buClr>
              <a:buSzPts val="1300"/>
              <a:buFont typeface="Calibri"/>
              <a:buNone/>
            </a:pPr>
            <a:r>
              <a:rPr lang="en" sz="1300" b="0" i="1" u="none" strike="noStrike" cap="none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Benchmarking against existing methods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1" name="Google Shape;241;p23"/>
          <p:cNvCxnSpPr/>
          <p:nvPr/>
        </p:nvCxnSpPr>
        <p:spPr>
          <a:xfrm>
            <a:off x="1143985" y="3212170"/>
            <a:ext cx="2057400" cy="0"/>
          </a:xfrm>
          <a:prstGeom prst="straightConnector1">
            <a:avLst/>
          </a:prstGeom>
          <a:noFill/>
          <a:ln w="254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2" name="Google Shape;242;p23"/>
          <p:cNvSpPr/>
          <p:nvPr/>
        </p:nvSpPr>
        <p:spPr>
          <a:xfrm>
            <a:off x="163150" y="4845650"/>
            <a:ext cx="61722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B72"/>
              </a:buClr>
              <a:buSzPts val="800"/>
              <a:buFont typeface="Calibri"/>
              <a:buNone/>
            </a:pPr>
            <a:r>
              <a:rPr lang="en" sz="800" b="0" i="0" u="none" strike="noStrike" cap="none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IEEE SMC Student Branch Chapter  •  Kalyani Government Engineering College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3" name="Google Shape;243;p23" descr="https://www.ieeesmc.org/wp-content/uploads/2020/01/SMCS_ID_4-12___17_Mar_202011-scaled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73726" y="4845639"/>
            <a:ext cx="991575" cy="297861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3"/>
          <p:cNvSpPr/>
          <p:nvPr/>
        </p:nvSpPr>
        <p:spPr>
          <a:xfrm>
            <a:off x="4111745" y="885230"/>
            <a:ext cx="2057400" cy="3257700"/>
          </a:xfrm>
          <a:prstGeom prst="roundRect">
            <a:avLst>
              <a:gd name="adj" fmla="val 16667"/>
            </a:avLst>
          </a:prstGeom>
          <a:solidFill>
            <a:srgbClr val="F4F5FA"/>
          </a:solidFill>
          <a:ln w="10150" cap="flat" cmpd="sng">
            <a:solidFill>
              <a:srgbClr val="D9DC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109725" tIns="68575" rIns="10972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000" b="0" i="0" u="none" strike="noStrike" cap="none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• Relies primarily on historical financial records and previous credit behaviour.</a:t>
            </a:r>
            <a:br>
              <a:rPr lang="en" sz="1000" b="0" i="0" u="none" strike="noStrike" cap="none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" sz="1000" b="0" i="0" u="none" strike="noStrike" cap="none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000" b="0" i="0" u="none" strike="noStrike" cap="none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• Can be adverse to people with little or no traditional credit history.</a:t>
            </a:r>
            <a:br>
              <a:rPr lang="en" sz="1000" b="0" i="0" u="none" strike="noStrike" cap="none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" sz="1000" b="0" i="0" u="none" strike="noStrike" cap="none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000" b="0" i="0" u="none" strike="noStrike" cap="none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• May provide limited representation for gig workers, self-employed people, small business owners and first-time borrowers.</a:t>
            </a:r>
            <a:endParaRPr sz="1100"/>
          </a:p>
        </p:txBody>
      </p:sp>
      <p:sp>
        <p:nvSpPr>
          <p:cNvPr id="245" name="Google Shape;245;p23"/>
          <p:cNvSpPr/>
          <p:nvPr/>
        </p:nvSpPr>
        <p:spPr>
          <a:xfrm>
            <a:off x="6706430" y="833055"/>
            <a:ext cx="2057400" cy="3257700"/>
          </a:xfrm>
          <a:prstGeom prst="roundRect">
            <a:avLst>
              <a:gd name="adj" fmla="val 16667"/>
            </a:avLst>
          </a:prstGeom>
          <a:solidFill>
            <a:srgbClr val="F4F5FA"/>
          </a:solidFill>
          <a:ln w="10150" cap="flat" cmpd="sng">
            <a:solidFill>
              <a:srgbClr val="D9DC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109725" tIns="68575" rIns="10972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000" b="0" i="0" u="none" strike="noStrike" cap="none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• Uses bank-statement transactions and behavioural information.</a:t>
            </a:r>
            <a:br>
              <a:rPr lang="en" sz="1000" b="0" i="0" u="none" strike="noStrike" cap="none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" sz="1000" b="0" i="0" u="none" strike="noStrike" cap="none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000" b="0" i="0" u="none" strike="noStrike" cap="none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• Uses evidence of income inflows, expenditure patterns, balances and repayment activities.</a:t>
            </a:r>
            <a:br>
              <a:rPr lang="en" sz="1000" b="0" i="0" u="none" strike="noStrike" cap="none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" sz="1000" b="0" i="0" u="none" strike="noStrike" cap="none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000" b="0" i="0" u="none" strike="noStrike" cap="none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• Uses component scores and explainability to identify positive and negative financial indicators.</a:t>
            </a:r>
            <a:endParaRPr sz="1100"/>
          </a:p>
        </p:txBody>
      </p:sp>
      <p:pic>
        <p:nvPicPr>
          <p:cNvPr id="246" name="Google Shape;246;p23" descr="Kalyani Government Engineering College | Kalyani University Area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1326" y="171450"/>
            <a:ext cx="553612" cy="538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3" descr="IEEE logo transparent PNG - Stick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57499" y="171450"/>
            <a:ext cx="689363" cy="384404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3"/>
          <p:cNvSpPr txBox="1"/>
          <p:nvPr/>
        </p:nvSpPr>
        <p:spPr>
          <a:xfrm>
            <a:off x="4273750" y="1063000"/>
            <a:ext cx="1965000" cy="2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100" b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Traditional credit scoring</a:t>
            </a:r>
            <a:endParaRPr sz="11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23"/>
          <p:cNvSpPr txBox="1"/>
          <p:nvPr/>
        </p:nvSpPr>
        <p:spPr>
          <a:xfrm>
            <a:off x="6932775" y="1063000"/>
            <a:ext cx="15252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100" b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Prosperity Score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4"/>
          <p:cNvSpPr/>
          <p:nvPr/>
        </p:nvSpPr>
        <p:spPr>
          <a:xfrm>
            <a:off x="1716370" y="1026565"/>
            <a:ext cx="788700" cy="788700"/>
          </a:xfrm>
          <a:prstGeom prst="ellipse">
            <a:avLst/>
          </a:prstGeom>
          <a:solidFill>
            <a:srgbClr val="24306B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6" name="Google Shape;256;p24" descr="/home/claude/icon_conclusion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74129" y="1220724"/>
            <a:ext cx="473202" cy="473202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4"/>
          <p:cNvSpPr/>
          <p:nvPr/>
        </p:nvSpPr>
        <p:spPr>
          <a:xfrm>
            <a:off x="180000" y="1989200"/>
            <a:ext cx="41493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lang="en" sz="2800" b="1" i="0" u="none" strike="noStrike" cap="none">
                <a:solidFill>
                  <a:srgbClr val="24306B"/>
                </a:solidFill>
                <a:latin typeface="Calibri"/>
                <a:ea typeface="Calibri"/>
                <a:cs typeface="Calibri"/>
                <a:sym typeface="Calibri"/>
              </a:rPr>
              <a:t>Conclusion &amp; Future Work</a:t>
            </a:r>
            <a:endParaRPr sz="2800" b="0" i="0" u="none" strike="noStrike" cap="none">
              <a:solidFill>
                <a:srgbClr val="24306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4"/>
          <p:cNvSpPr/>
          <p:nvPr/>
        </p:nvSpPr>
        <p:spPr>
          <a:xfrm>
            <a:off x="781197" y="2714975"/>
            <a:ext cx="29469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8E0"/>
              </a:buClr>
              <a:buSzPts val="1300"/>
              <a:buFont typeface="Calibri"/>
              <a:buNone/>
            </a:pPr>
            <a:r>
              <a:rPr lang="en" sz="13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Summary and directions ahead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9" name="Google Shape;259;p24"/>
          <p:cNvCxnSpPr/>
          <p:nvPr/>
        </p:nvCxnSpPr>
        <p:spPr>
          <a:xfrm>
            <a:off x="1225960" y="3195045"/>
            <a:ext cx="2057400" cy="0"/>
          </a:xfrm>
          <a:prstGeom prst="straightConnector1">
            <a:avLst/>
          </a:prstGeom>
          <a:noFill/>
          <a:ln w="25400" cap="flat" cmpd="sng">
            <a:solidFill>
              <a:srgbClr val="24306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0" name="Google Shape;260;p24"/>
          <p:cNvSpPr/>
          <p:nvPr/>
        </p:nvSpPr>
        <p:spPr>
          <a:xfrm>
            <a:off x="180000" y="4812750"/>
            <a:ext cx="33234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6D6"/>
              </a:buClr>
              <a:buSzPts val="800"/>
              <a:buFont typeface="Calibri"/>
              <a:buNone/>
            </a:pPr>
            <a:r>
              <a:rPr lang="en" sz="800" b="0" i="0" u="none" strike="noStrike" cap="none">
                <a:solidFill>
                  <a:srgbClr val="9AA6D6"/>
                </a:solidFill>
                <a:latin typeface="Calibri"/>
                <a:ea typeface="Calibri"/>
                <a:cs typeface="Calibri"/>
                <a:sym typeface="Calibri"/>
              </a:rPr>
              <a:t>IEEE SMC Student Branch Chapter  •  Kalyani Government Engineering College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1" name="Google Shape;261;p24" descr="https://www.ieeesmc.org/wp-content/uploads/2020/01/SMCS_ID_4-12___17_Mar_202011-scaled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8526" y="4812739"/>
            <a:ext cx="991575" cy="297861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4"/>
          <p:cNvSpPr/>
          <p:nvPr/>
        </p:nvSpPr>
        <p:spPr>
          <a:xfrm>
            <a:off x="4749500" y="912175"/>
            <a:ext cx="3945300" cy="1694400"/>
          </a:xfrm>
          <a:prstGeom prst="roundRect">
            <a:avLst>
              <a:gd name="adj" fmla="val 16667"/>
            </a:avLst>
          </a:prstGeom>
          <a:solidFill>
            <a:srgbClr val="F4F5FA"/>
          </a:solidFill>
          <a:ln w="10150" cap="flat" cmpd="sng">
            <a:solidFill>
              <a:srgbClr val="D9DC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6000" tIns="54875" rIns="96000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263" name="Google Shape;263;p24"/>
          <p:cNvSpPr/>
          <p:nvPr/>
        </p:nvSpPr>
        <p:spPr>
          <a:xfrm>
            <a:off x="4810101" y="2962900"/>
            <a:ext cx="3824100" cy="1733700"/>
          </a:xfrm>
          <a:prstGeom prst="roundRect">
            <a:avLst>
              <a:gd name="adj" fmla="val 16667"/>
            </a:avLst>
          </a:prstGeom>
          <a:solidFill>
            <a:srgbClr val="F4F5FA"/>
          </a:solidFill>
          <a:ln w="10150" cap="flat" cmpd="sng">
            <a:solidFill>
              <a:srgbClr val="D9DC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6000" tIns="54875" rIns="96000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pic>
        <p:nvPicPr>
          <p:cNvPr id="264" name="Google Shape;264;p24" descr="Kalyani Government Engineering College | Kalyani University Area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35051" y="186775"/>
            <a:ext cx="553612" cy="538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4" descr="IEEE logo transparent PNG - Stick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57499" y="171450"/>
            <a:ext cx="689363" cy="384404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4"/>
          <p:cNvSpPr txBox="1"/>
          <p:nvPr/>
        </p:nvSpPr>
        <p:spPr>
          <a:xfrm>
            <a:off x="5683550" y="3180425"/>
            <a:ext cx="2057400" cy="2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000" b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Future work stated in the report</a:t>
            </a:r>
            <a:endParaRPr/>
          </a:p>
        </p:txBody>
      </p:sp>
      <p:sp>
        <p:nvSpPr>
          <p:cNvPr id="267" name="Google Shape;267;p24"/>
          <p:cNvSpPr txBox="1"/>
          <p:nvPr/>
        </p:nvSpPr>
        <p:spPr>
          <a:xfrm>
            <a:off x="4936625" y="3678375"/>
            <a:ext cx="3528300" cy="7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800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More comprehensive labelled data; validation against real repayment data; better predictive tools; fairness and discrimination checks; improved transaction classification; PDF/OCR; stronger security and reliability; RBI Account Aggregator integration; and a properly operating loan amortization engine.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24"/>
          <p:cNvSpPr txBox="1"/>
          <p:nvPr/>
        </p:nvSpPr>
        <p:spPr>
          <a:xfrm>
            <a:off x="5580325" y="1170400"/>
            <a:ext cx="23259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100" b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/>
          </a:p>
        </p:txBody>
      </p:sp>
      <p:sp>
        <p:nvSpPr>
          <p:cNvPr id="269" name="Google Shape;269;p24"/>
          <p:cNvSpPr txBox="1"/>
          <p:nvPr/>
        </p:nvSpPr>
        <p:spPr>
          <a:xfrm>
            <a:off x="4936625" y="1546900"/>
            <a:ext cx="3607200" cy="8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900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Prosperity Score evaluates bank-statement activity to present a clear financial assessment. The main score combines Income, Expense, Cashflow and Repayment on a 300–900 scale, while risk classification and suitability criteria remain distinct.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1166</Words>
  <Application>Microsoft Office PowerPoint</Application>
  <PresentationFormat>On-screen Show (16:9)</PresentationFormat>
  <Paragraphs>138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Cambria</vt:lpstr>
      <vt:lpstr>Times New Roman</vt:lpstr>
      <vt:lpstr>Simple Light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Krishnendu Ghosh</cp:lastModifiedBy>
  <cp:revision>5</cp:revision>
  <dcterms:modified xsi:type="dcterms:W3CDTF">2026-08-21T15:08:24Z</dcterms:modified>
</cp:coreProperties>
</file>