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182880"/>
            <a:ext cx="2696705" cy="73152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590" y="6309360"/>
            <a:ext cx="13716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731520" y="1371600"/>
            <a:ext cx="10728655" cy="1645920"/>
          </a:xfrm>
          <a:prstGeom prst="rect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1054577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IEEE SYSTEMS, MAN, AND CYBERNETICS SOCIETY</a:t>
            </a:r>
            <a:br/>
            <a:r>
              <a:t>STUDENT BRANCH CHAPTER</a:t>
            </a:r>
            <a:br/>
            <a:r>
              <a:t>KALYANI GOVERNMENT ENGINEERING COLLEGE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72865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565C0"/>
                </a:solidFill>
              </a:defRPr>
            </a:pPr>
            <a:r>
              <a:t>SUMMER RESEARCH INTERNSHIP PROGRAMME 2026</a:t>
            </a:r>
            <a:br/>
            <a:r>
              <a:t>FINAL RESEARCH REPORT PRESENTATION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4297680"/>
            <a:ext cx="9448495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DAA5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463040" y="4343400"/>
            <a:ext cx="92656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002B49"/>
                </a:solidFill>
              </a:defRPr>
            </a:pPr>
            <a:r>
              <a:t>ALAS-SCLF: Adaptive-L Asymmetric-Segmented SCLF Polar Decoders with Guard-Band Stabilization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303520"/>
            <a:ext cx="1072865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3C3C3C"/>
                </a:solidFill>
              </a:defRPr>
            </a:pPr>
            <a:r>
              <a:t>Submitted by: Deep Shekhar Halder &amp; Prasun Majumder (CSE Department, Adamas University)</a:t>
            </a:r>
            <a:br/>
            <a:r>
              <a:t>Mentored by: Dwaipayan Ghosh (Assistant Professor, Kalyani Government Engineering College)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182880"/>
            <a:ext cx="2696705" cy="73152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590" y="6309360"/>
            <a:ext cx="1371600" cy="4572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2B49"/>
                </a:solidFill>
              </a:defRPr>
            </a:pPr>
            <a:r>
              <a:t>Introduction</a:t>
            </a:r>
          </a:p>
          <a:p>
            <a:pPr>
              <a:spcBef>
                <a:spcPts val="1000"/>
              </a:spcBef>
              <a:defRPr sz="1800" i="1">
                <a:solidFill>
                  <a:srgbClr val="3C3C3C"/>
                </a:solidFill>
              </a:defRPr>
            </a:pPr>
            <a:r>
              <a:t>Background and 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97680"/>
            <a:ext cx="274320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IEEE SMC Student Branch Chapter • Kalyani Government Engineering College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87878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182880"/>
            <a:ext cx="2696705" cy="73152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590" y="6309360"/>
            <a:ext cx="13716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IEEE SMC Student Branch Chapter • Kalyani Government Engineering College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87878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2B49"/>
                </a:solidFill>
              </a:defRPr>
            </a:pPr>
            <a:r>
              <a:t>Introduction &amp; Research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500" b="1">
                <a:solidFill>
                  <a:srgbClr val="1565C0"/>
                </a:solidFill>
              </a:defRPr>
            </a:pPr>
            <a:r>
              <a:t>• Background in 5G NR Channels</a:t>
            </a:r>
          </a:p>
          <a:p>
            <a:pPr>
              <a:spcBef>
                <a:spcPts val="400"/>
              </a:spcBef>
              <a:defRPr sz="1350">
                <a:solidFill>
                  <a:srgbClr val="3C3C3C"/>
                </a:solidFill>
              </a:defRPr>
            </a:pPr>
            <a:r>
              <a:t>   Polar codes are standardized for 5G control channels because they achieve channel capacity under Successive Cancellation List (SCL) decoding.</a:t>
            </a:r>
          </a:p>
          <a:p>
            <a:pPr>
              <a:spcBef>
                <a:spcPts val="800"/>
              </a:spcBef>
              <a:defRPr sz="1500" b="1">
                <a:solidFill>
                  <a:srgbClr val="1565C0"/>
                </a:solidFill>
              </a:defRPr>
            </a:pPr>
            <a:r>
              <a:t>• Decoding Latency Bottlenecks</a:t>
            </a:r>
          </a:p>
          <a:p>
            <a:pPr>
              <a:spcBef>
                <a:spcPts val="400"/>
              </a:spcBef>
              <a:defRPr sz="1350">
                <a:solidFill>
                  <a:srgbClr val="3C3C3C"/>
                </a:solidFill>
              </a:defRPr>
            </a:pPr>
            <a:r>
              <a:t>   SCL decoding scales complexity to achieve performance. Threshold-Learning SCLF (TS-SCLF) decoders use early SCL termination (SCL-RE) to reduce average latency.</a:t>
            </a:r>
          </a:p>
          <a:p>
            <a:pPr>
              <a:spcBef>
                <a:spcPts val="800"/>
              </a:spcBef>
              <a:defRPr sz="1500" b="1">
                <a:solidFill>
                  <a:srgbClr val="1565C0"/>
                </a:solidFill>
              </a:defRPr>
            </a:pPr>
            <a:r>
              <a:t>• Core Weaknesses of TS-SCLF:</a:t>
            </a:r>
          </a:p>
          <a:p>
            <a:pPr>
              <a:spcBef>
                <a:spcPts val="400"/>
              </a:spcBef>
              <a:defRPr sz="1300">
                <a:solidFill>
                  <a:srgbClr val="3C3C3C"/>
                </a:solidFill>
              </a:defRPr>
            </a:pPr>
            <a:r>
              <a:t>   – Post-Flip Metric Instability: Forcefully flipping a bit causes path metrics to spike; immediate threshold checks prune correct paths prematurely.</a:t>
            </a:r>
          </a:p>
          <a:p>
            <a:pPr>
              <a:spcBef>
                <a:spcPts val="400"/>
              </a:spcBef>
              <a:defRPr sz="1300">
                <a:solidFill>
                  <a:srgbClr val="3C3C3C"/>
                </a:solidFill>
              </a:defRPr>
            </a:pPr>
            <a:r>
              <a:t>   – False-Pass Search Space Lockout: Symmetric 50/50 CRC partitioning (l_seg=24) suffers a high false-pass rate under noise, locking out flips in Segment 1.</a:t>
            </a:r>
          </a:p>
          <a:p>
            <a:pPr>
              <a:spcBef>
                <a:spcPts val="400"/>
              </a:spcBef>
              <a:defRPr sz="1300">
                <a:solidFill>
                  <a:srgbClr val="3C3C3C"/>
                </a:solidFill>
              </a:defRPr>
            </a:pPr>
            <a:r>
              <a:t>   – Rigid Search List Size: Restricted list capacity (L=4) fails to identify correct paths under severe channel noise.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182880"/>
            <a:ext cx="2696705" cy="73152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590" y="6309360"/>
            <a:ext cx="1371600" cy="4572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2B49"/>
                </a:solidFill>
              </a:defRPr>
            </a:pPr>
            <a:r>
              <a:t>Literature Study</a:t>
            </a:r>
          </a:p>
          <a:p>
            <a:pPr>
              <a:spcBef>
                <a:spcPts val="1000"/>
              </a:spcBef>
              <a:defRPr sz="1800" i="1">
                <a:solidFill>
                  <a:srgbClr val="3C3C3C"/>
                </a:solidFill>
              </a:defRPr>
            </a:pPr>
            <a:r>
              <a:t>Review of existing research and related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97680"/>
            <a:ext cx="274320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IEEE SMC Student Branch Chapter • Kalyani Government Engineering College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87878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182880"/>
            <a:ext cx="2696705" cy="73152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590" y="6309360"/>
            <a:ext cx="13716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IEEE SMC Student Branch Chapter • Kalyani Government Engineering College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87878"/>
                </a:solidFill>
              </a:defRPr>
            </a:pPr>
            <a: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2B49"/>
                </a:solidFill>
              </a:defRPr>
            </a:pPr>
            <a:r>
              <a:t>Literature Background &amp; Mathematical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188720"/>
            <a:ext cx="106984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500" b="1">
                <a:solidFill>
                  <a:srgbClr val="1565C0"/>
                </a:solidFill>
              </a:defRPr>
            </a:pPr>
            <a:r>
              <a:t>• Arikan's Channel Polarization</a:t>
            </a:r>
          </a:p>
          <a:p>
            <a:pPr>
              <a:spcBef>
                <a:spcPts val="300"/>
              </a:spcBef>
              <a:defRPr sz="1300">
                <a:solidFill>
                  <a:srgbClr val="3C3C3C"/>
                </a:solidFill>
              </a:defRPr>
            </a:pPr>
            <a:r>
              <a:t>   Transforms N independent channels into capacity-achieving clean/noisy polarized channels via G_N = B_N F^(⊗n), where F = [1, 0; 1, 1]. Payload bits map to reliability index set I; frozen bits set to 0.</a:t>
            </a:r>
          </a:p>
          <a:p>
            <a:pPr>
              <a:spcBef>
                <a:spcPts val="800"/>
              </a:spcBef>
              <a:defRPr sz="1500" b="1">
                <a:solidFill>
                  <a:srgbClr val="1565C0"/>
                </a:solidFill>
              </a:defRPr>
            </a:pPr>
            <a:r>
              <a:t>• LLR Recursive Tree Updates</a:t>
            </a:r>
          </a:p>
          <a:p>
            <a:pPr>
              <a:spcBef>
                <a:spcPts val="300"/>
              </a:spcBef>
              <a:defRPr sz="1300">
                <a:solidFill>
                  <a:srgbClr val="3C3C3C"/>
                </a:solidFill>
              </a:defRPr>
            </a:pPr>
            <a:r>
              <a:t>   Left and right node updates computed recursively:</a:t>
            </a:r>
            <a:br/>
            <a:r>
              <a:t>  P_left,i = 2 arctanh( tanh(P_2i-1/2) tanh(P_2i/2) )</a:t>
            </a:r>
            <a:br/>
            <a:r>
              <a:t>  P_right,i = P_2i + (1 - 2 u_hat_left,i) P_2i-1</a:t>
            </a:r>
          </a:p>
          <a:p>
            <a:pPr>
              <a:spcBef>
                <a:spcPts val="800"/>
              </a:spcBef>
              <a:defRPr sz="1500" b="1">
                <a:solidFill>
                  <a:srgbClr val="1565C0"/>
                </a:solidFill>
              </a:defRPr>
            </a:pPr>
            <a:r>
              <a:t>• SCL Path Metric (PM) Updates</a:t>
            </a:r>
          </a:p>
          <a:p>
            <a:pPr>
              <a:spcBef>
                <a:spcPts val="300"/>
              </a:spcBef>
              <a:defRPr sz="1300">
                <a:solidFill>
                  <a:srgbClr val="3C3C3C"/>
                </a:solidFill>
              </a:defRPr>
            </a:pPr>
            <a:r>
              <a:t>   PM_l^(m) = PM_{l-1}^(m) if bit decision matches LLR sign, else PM_l^(m) = PM_{l-1}^(m) + |lambda_l^(m)|.</a:t>
            </a:r>
          </a:p>
          <a:p>
            <a:pPr>
              <a:spcBef>
                <a:spcPts val="800"/>
              </a:spcBef>
              <a:defRPr sz="1500" b="1">
                <a:solidFill>
                  <a:srgbClr val="1565C0"/>
                </a:solidFill>
              </a:defRPr>
            </a:pPr>
            <a:r>
              <a:t>• DQN Parameter Search MDP Formulation</a:t>
            </a:r>
          </a:p>
          <a:p>
            <a:pPr>
              <a:spcBef>
                <a:spcPts val="300"/>
              </a:spcBef>
              <a:defRPr sz="1300">
                <a:solidFill>
                  <a:srgbClr val="3C3C3C"/>
                </a:solidFill>
              </a:defRPr>
            </a:pPr>
            <a:r>
              <a:t>   State: s_t = [D1, D2, alpha]. Actions: discrete parameter adjustments. Reward function evaluates attempts and penalizes FER threshold failures: R(s) = T_prev - T_curr(s) if FER is satisfied, else R(s) = -1000.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182880"/>
            <a:ext cx="2696705" cy="73152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590" y="6309360"/>
            <a:ext cx="1371600" cy="4572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2B49"/>
                </a:solidFill>
              </a:defRPr>
            </a:pPr>
            <a:r>
              <a:t>Contribution</a:t>
            </a:r>
          </a:p>
          <a:p>
            <a:pPr>
              <a:spcBef>
                <a:spcPts val="1000"/>
              </a:spcBef>
              <a:defRPr sz="1800" i="1">
                <a:solidFill>
                  <a:srgbClr val="3C3C3C"/>
                </a:solidFill>
              </a:defRPr>
            </a:pPr>
            <a:r>
              <a:t>What this work adds to the field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97680"/>
            <a:ext cx="274320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IEEE SMC Student Branch Chapter • Kalyani Government Engineering College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87878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182880"/>
            <a:ext cx="2696705" cy="73152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590" y="6309360"/>
            <a:ext cx="13716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IEEE SMC Student Branch Chapter • Kalyani Government Engineering College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87878"/>
                </a:solidFill>
              </a:defRPr>
            </a:pPr>
            <a: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2B49"/>
                </a:solidFill>
              </a:defRPr>
            </a:pPr>
            <a:r>
              <a:t>Key Technical Contributions of ALAS-SCLF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3291840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3716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B49"/>
                </a:solidFill>
              </a:defRPr>
            </a:pPr>
            <a:r>
              <a:t>1. Post-Flip Guard-Band</a:t>
            </a:r>
          </a:p>
          <a:p>
            <a:pPr>
              <a:spcBef>
                <a:spcPts val="400"/>
              </a:spcBef>
              <a:defRPr sz="1200" b="1">
                <a:solidFill>
                  <a:srgbClr val="DAA520"/>
                </a:solidFill>
              </a:defRPr>
            </a:pPr>
            <a:r>
              <a:t>G = ceil(β * N)</a:t>
            </a:r>
          </a:p>
          <a:p>
            <a:pPr>
              <a:spcBef>
                <a:spcPts val="600"/>
              </a:spcBef>
              <a:defRPr sz="1100">
                <a:solidFill>
                  <a:srgbClr val="3C3C3C"/>
                </a:solidFill>
              </a:defRPr>
            </a:pPr>
            <a:r>
              <a:t>• Bypasses early SCL-RE checks for first G layers immediately after bit-flip.</a:t>
            </a:r>
          </a:p>
          <a:p>
            <a:pPr>
              <a:spcBef>
                <a:spcPts val="600"/>
              </a:spcBef>
              <a:defRPr sz="1100">
                <a:solidFill>
                  <a:srgbClr val="3C3C3C"/>
                </a:solidFill>
              </a:defRPr>
            </a:pPr>
            <a:r>
              <a:t>• Allows LLR distributions and path metric spread to stabilize.</a:t>
            </a:r>
          </a:p>
          <a:p>
            <a:pPr>
              <a:spcBef>
                <a:spcPts val="600"/>
              </a:spcBef>
              <a:defRPr sz="1100">
                <a:solidFill>
                  <a:srgbClr val="3C3C3C"/>
                </a:solidFill>
              </a:defRPr>
            </a:pPr>
            <a:r>
              <a:t>• Prevents premature pruning of correct paths.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280160"/>
            <a:ext cx="3291840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3716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B49"/>
                </a:solidFill>
              </a:defRPr>
            </a:pPr>
            <a:r>
              <a:t>2. Asymmetric CRC partitioning</a:t>
            </a:r>
          </a:p>
          <a:p>
            <a:pPr>
              <a:spcBef>
                <a:spcPts val="400"/>
              </a:spcBef>
              <a:defRPr sz="1200" b="1">
                <a:solidFill>
                  <a:srgbClr val="DAA520"/>
                </a:solidFill>
              </a:defRPr>
            </a:pPr>
            <a:r>
              <a:t>l_seg1 = ceil(γ * K)</a:t>
            </a:r>
          </a:p>
          <a:p>
            <a:pPr>
              <a:spcBef>
                <a:spcPts val="600"/>
              </a:spcBef>
              <a:defRPr sz="1100">
                <a:solidFill>
                  <a:srgbClr val="3C3C3C"/>
                </a:solidFill>
              </a:defRPr>
            </a:pPr>
            <a:r>
              <a:t>• Reduces Segment 1 length to 16 bits (vs 24 in TS-SCLF).</a:t>
            </a:r>
          </a:p>
          <a:p>
            <a:pPr>
              <a:spcBef>
                <a:spcPts val="600"/>
              </a:spcBef>
              <a:defRPr sz="1100">
                <a:solidFill>
                  <a:srgbClr val="3C3C3C"/>
                </a:solidFill>
              </a:defRPr>
            </a:pPr>
            <a:r>
              <a:t>• Cuts false-pass probability of CRC1 by &gt;50%.</a:t>
            </a:r>
          </a:p>
          <a:p>
            <a:pPr>
              <a:spcBef>
                <a:spcPts val="600"/>
              </a:spcBef>
              <a:defRPr sz="1100">
                <a:solidFill>
                  <a:srgbClr val="3C3C3C"/>
                </a:solidFill>
              </a:defRPr>
            </a:pPr>
            <a:r>
              <a:t>• Enforces Segment-Constrained Flipping (SCF) to restrict candidates.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280160"/>
            <a:ext cx="3291840" cy="4389120"/>
          </a:xfrm>
          <a:prstGeom prst="roundRect">
            <a:avLst/>
          </a:prstGeom>
          <a:solidFill>
            <a:srgbClr val="F5F7FA"/>
          </a:solidFill>
          <a:ln w="19050">
            <a:solidFill>
              <a:srgbClr val="15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1371600"/>
            <a:ext cx="3108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02B49"/>
                </a:solidFill>
              </a:defRPr>
            </a:pPr>
            <a:r>
              <a:t>3. Adaptive List Scaling</a:t>
            </a:r>
          </a:p>
          <a:p>
            <a:pPr>
              <a:spcBef>
                <a:spcPts val="400"/>
              </a:spcBef>
              <a:defRPr sz="1200" b="1">
                <a:solidFill>
                  <a:srgbClr val="DAA520"/>
                </a:solidFill>
              </a:defRPr>
            </a:pPr>
            <a:r>
              <a:t>L = 4 -&gt; 8 Dynamic</a:t>
            </a:r>
          </a:p>
          <a:p>
            <a:pPr>
              <a:spcBef>
                <a:spcPts val="600"/>
              </a:spcBef>
              <a:defRPr sz="1100">
                <a:solidFill>
                  <a:srgbClr val="3C3C3C"/>
                </a:solidFill>
              </a:defRPr>
            </a:pPr>
            <a:r>
              <a:t>• Measures initial PM range R = PM_max(0) - PM_min(0).</a:t>
            </a:r>
          </a:p>
          <a:p>
            <a:pPr>
              <a:spcBef>
                <a:spcPts val="600"/>
              </a:spcBef>
              <a:defRPr sz="1100">
                <a:solidFill>
                  <a:srgbClr val="3C3C3C"/>
                </a:solidFill>
              </a:defRPr>
            </a:pPr>
            <a:r>
              <a:t>• If R &lt; 4.0 (severe noise) or Segment 1 fails, scales list size to L=8.</a:t>
            </a:r>
          </a:p>
          <a:p>
            <a:pPr>
              <a:spcBef>
                <a:spcPts val="600"/>
              </a:spcBef>
              <a:defRPr sz="1100">
                <a:solidFill>
                  <a:srgbClr val="3C3C3C"/>
                </a:solidFill>
              </a:defRPr>
            </a:pPr>
            <a:r>
              <a:t>• Keeps average list size close to 4.3 while solving high-noise frames.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182880"/>
            <a:ext cx="2696705" cy="73152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590" y="6309360"/>
            <a:ext cx="1371600" cy="4572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2B49"/>
                </a:solidFill>
              </a:defRPr>
            </a:pPr>
            <a:r>
              <a:t>Methodology</a:t>
            </a:r>
          </a:p>
          <a:p>
            <a:pPr>
              <a:spcBef>
                <a:spcPts val="1000"/>
              </a:spcBef>
              <a:defRPr sz="1800" i="1">
                <a:solidFill>
                  <a:srgbClr val="3C3C3C"/>
                </a:solidFill>
              </a:defRPr>
            </a:pPr>
            <a:r>
              <a:t>Approach, design, and implementation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97680"/>
            <a:ext cx="274320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IEEE SMC Student Branch Chapter • Kalyani Government Engineering College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87878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182880"/>
            <a:ext cx="2696705" cy="73152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590" y="6309360"/>
            <a:ext cx="13716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IEEE SMC Student Branch Chapter • Kalyani Government Engineering College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87878"/>
                </a:solidFill>
              </a:defRPr>
            </a:pPr>
            <a: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2B49"/>
                </a:solidFill>
              </a:defRPr>
            </a:pPr>
            <a:r>
              <a:t>Methodology: System Architecture &amp; Algorithms</a:t>
            </a:r>
          </a:p>
        </p:txBody>
      </p:sp>
      <p:pic>
        <p:nvPicPr>
          <p:cNvPr id="7" name="Picture 6" descr="fig_system_flowchar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188720"/>
            <a:ext cx="548640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00800" y="1188720"/>
            <a:ext cx="50292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565C0"/>
                </a:solidFill>
              </a:defRPr>
            </a:pPr>
            <a:r>
              <a:t>Operational Flow &amp; Algorithm Architecture:</a:t>
            </a:r>
          </a:p>
          <a:p>
            <a:pPr>
              <a:spcBef>
                <a:spcPts val="800"/>
              </a:spcBef>
              <a:defRPr sz="1200">
                <a:solidFill>
                  <a:srgbClr val="3C3C3C"/>
                </a:solidFill>
              </a:defRPr>
            </a:pPr>
            <a:r>
              <a:t>• Algorithm 1 (FLIPSKIP): Skips flipping search locations if they fall within threshold distance D1 of previous flips, saving computations.</a:t>
            </a:r>
          </a:p>
          <a:p>
            <a:pPr>
              <a:spcBef>
                <a:spcPts val="800"/>
              </a:spcBef>
              <a:defRPr sz="1200">
                <a:solidFill>
                  <a:srgbClr val="3C3C3C"/>
                </a:solidFill>
              </a:defRPr>
            </a:pPr>
            <a:r>
              <a:t>• Algorithm 2 (SCL-RE-GB): Executes SCL decoding with a Guard-Band (G) window, temporarily bypassing threshold checks immediately after flips.</a:t>
            </a:r>
          </a:p>
          <a:p>
            <a:pPr>
              <a:spcBef>
                <a:spcPts val="800"/>
              </a:spcBef>
              <a:defRPr sz="1200">
                <a:solidFill>
                  <a:srgbClr val="3C3C3C"/>
                </a:solidFill>
              </a:defRPr>
            </a:pPr>
            <a:r>
              <a:t>• Algorithm 3 (Decoder Integration): Orchestrates the initial run (L=4), measures path metric spread R, scales search list (L=8) dynamically, and executes segment-constrained flips.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182880"/>
            <a:ext cx="2696705" cy="73152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590" y="6309360"/>
            <a:ext cx="1371600" cy="4572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2B49"/>
                </a:solidFill>
              </a:defRPr>
            </a:pPr>
            <a:r>
              <a:t>Results</a:t>
            </a:r>
          </a:p>
          <a:p>
            <a:pPr>
              <a:spcBef>
                <a:spcPts val="1000"/>
              </a:spcBef>
              <a:defRPr sz="1800" i="1">
                <a:solidFill>
                  <a:srgbClr val="3C3C3C"/>
                </a:solidFill>
              </a:defRPr>
            </a:pPr>
            <a:r>
              <a:t>Key findings and observations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97680"/>
            <a:ext cx="274320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IEEE SMC Student Branch Chapter • Kalyani Government Engineering College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87878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182880"/>
            <a:ext cx="2696705" cy="73152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590" y="6309360"/>
            <a:ext cx="13716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IEEE SMC Student Branch Chapter • Kalyani Government Engineering College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87878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2B49"/>
                </a:solidFill>
              </a:defRPr>
            </a:pPr>
            <a:r>
              <a:t>Simulation Results: Short Block Code (128, 56)</a:t>
            </a:r>
          </a:p>
        </p:txBody>
      </p:sp>
      <p:pic>
        <p:nvPicPr>
          <p:cNvPr id="7" name="Picture 6" descr="fig_n128_k56_fer_attemp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188720"/>
            <a:ext cx="566928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0" y="11887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200">
                <a:solidFill>
                  <a:srgbClr val="3C3C3C"/>
                </a:solidFill>
              </a:defRPr>
            </a:pPr>
            <a:r>
              <a:t>• TS-SCLF Crossover at 1.5 dB: Symmetric split (l_seg=24) causes high false pass rate, locking search-space out. Proposed ALAS-SCLF resolves this completely.</a:t>
            </a:r>
          </a:p>
          <a:p>
            <a:pPr>
              <a:spcBef>
                <a:spcPts val="800"/>
              </a:spcBef>
              <a:defRPr sz="1200">
                <a:solidFill>
                  <a:srgbClr val="3C3C3C"/>
                </a:solidFill>
              </a:defRPr>
            </a:pPr>
            <a:r>
              <a:t>• 36.6% Relative FER Reduction: At 1.5 dB SNR, ALAS-SCLF drops FER from 0.02050 (TS-SCLF) to 0.01300.</a:t>
            </a:r>
          </a:p>
          <a:p>
            <a:pPr>
              <a:spcBef>
                <a:spcPts val="800"/>
              </a:spcBef>
              <a:defRPr sz="1200">
                <a:solidFill>
                  <a:srgbClr val="3C3C3C"/>
                </a:solidFill>
              </a:defRPr>
            </a:pPr>
            <a:r>
              <a:t>• 21.0% Complexity Reduction: At 0.5 dB under high noise, average attempts drop from 2.162 down to 1.707.</a:t>
            </a:r>
          </a:p>
          <a:p>
            <a:pPr>
              <a:spcBef>
                <a:spcPts val="800"/>
              </a:spcBef>
              <a:defRPr sz="1200">
                <a:solidFill>
                  <a:srgbClr val="3C3C3C"/>
                </a:solidFill>
              </a:defRPr>
            </a:pPr>
            <a:r>
              <a:t>• Enforced Statistical Baseline: Enforces 20,000 Monte Carlo trials per SNR point to verify reliability.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182880"/>
            <a:ext cx="2696705" cy="73152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590" y="6309360"/>
            <a:ext cx="13716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IEEE SMC Student Branch Chapter • Kalyani Government Engineering College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87878"/>
                </a:solidFill>
              </a:defRPr>
            </a:pPr>
            <a: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2B49"/>
                </a:solidFill>
              </a:defRPr>
            </a:pPr>
            <a:r>
              <a:t>Simulation Results: Medium/Long Block Code (1024, 512)</a:t>
            </a:r>
          </a:p>
        </p:txBody>
      </p:sp>
      <p:pic>
        <p:nvPicPr>
          <p:cNvPr id="7" name="Picture 6" descr="fig_n1024_k512_fer_attemp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188720"/>
            <a:ext cx="5669280" cy="43891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83680" y="11887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800"/>
              </a:spcBef>
              <a:defRPr sz="1200">
                <a:solidFill>
                  <a:srgbClr val="3C3C3C"/>
                </a:solidFill>
              </a:defRPr>
            </a:pPr>
            <a:r>
              <a:t>• 43.2% Relative FER Reduction: For block length N=1024 at SNR = 1.5 dB, ALAS-SCLF reduces FER from 0.01250 down to 0.00710.</a:t>
            </a:r>
          </a:p>
          <a:p>
            <a:pPr>
              <a:spcBef>
                <a:spcPts val="800"/>
              </a:spcBef>
              <a:defRPr sz="1200">
                <a:solidFill>
                  <a:srgbClr val="3C3C3C"/>
                </a:solidFill>
              </a:defRPr>
            </a:pPr>
            <a:r>
              <a:t>• 34.3% Complexity Reduction: At SNR = 1.0 dB, average decoding attempts drop from 2.890 down to 1.900.</a:t>
            </a:r>
          </a:p>
          <a:p>
            <a:pPr>
              <a:spcBef>
                <a:spcPts val="800"/>
              </a:spcBef>
              <a:defRPr sz="1200">
                <a:solidFill>
                  <a:srgbClr val="3C3C3C"/>
                </a:solidFill>
              </a:defRPr>
            </a:pPr>
            <a:r>
              <a:t>• Scale Robustness: Post-flip Guard-Band G = ceil(β * N) = 64 proves critical as block length increases.</a:t>
            </a:r>
          </a:p>
          <a:p>
            <a:pPr>
              <a:spcBef>
                <a:spcPts val="800"/>
              </a:spcBef>
              <a:defRPr sz="1200">
                <a:solidFill>
                  <a:srgbClr val="3C3C3C"/>
                </a:solidFill>
              </a:defRPr>
            </a:pPr>
            <a:r>
              <a:t>• Pareto Frontier: Achieves simultaneous improvements in error-rate and latency compared to standard decoders.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182880"/>
            <a:ext cx="2696705" cy="73152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590" y="6309360"/>
            <a:ext cx="1371600" cy="457200"/>
          </a:xfrm>
          <a:prstGeom prst="rect">
            <a:avLst/>
          </a:prstGeom>
        </p:spPr>
      </p:pic>
      <p:sp>
        <p:nvSpPr>
          <p:cNvPr id="4" name="Oval 3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002B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926080"/>
            <a:ext cx="10698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002B49"/>
                </a:solidFill>
              </a:defRPr>
            </a:pPr>
            <a:r>
              <a:t>Comparison Study</a:t>
            </a:r>
          </a:p>
          <a:p>
            <a:pPr>
              <a:spcBef>
                <a:spcPts val="1000"/>
              </a:spcBef>
              <a:defRPr sz="1800" i="1">
                <a:solidFill>
                  <a:srgbClr val="3C3C3C"/>
                </a:solidFill>
              </a:defRPr>
            </a:pPr>
            <a:r>
              <a:t>Benchmarking against existing methods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4297680"/>
            <a:ext cx="2743200" cy="36576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IEEE SMC Student Branch Chapter • Kalyani Government Engineering College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87878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182880"/>
            <a:ext cx="2696705" cy="73152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590" y="6309360"/>
            <a:ext cx="13716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6576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IEEE SMC Student Branch Chapter • Kalyani Government Engineering College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87878"/>
                </a:solidFill>
              </a:defRPr>
            </a:pPr>
            <a: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002B49"/>
                </a:solidFill>
              </a:defRPr>
            </a:pPr>
            <a:r>
              <a:t>Comparison Study &amp; DQN Convergence</a:t>
            </a:r>
          </a:p>
        </p:txBody>
      </p:sp>
      <p:pic>
        <p:nvPicPr>
          <p:cNvPr id="7" name="Picture 6" descr="fig6_dqn_convergenc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188720"/>
            <a:ext cx="5486400" cy="4389120"/>
          </a:xfrm>
          <a:prstGeom prst="rect">
            <a:avLst/>
          </a:prstGeom>
        </p:spPr>
      </p:pic>
      <p:pic>
        <p:nvPicPr>
          <p:cNvPr id="8" name="Picture 7" descr="fig_multi_length_scaling_dashboar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188720"/>
            <a:ext cx="5303520" cy="43891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182880"/>
            <a:ext cx="2696705" cy="731520"/>
          </a:xfrm>
          <a:prstGeom prst="rect">
            <a:avLst/>
          </a:prstGeom>
        </p:spPr>
      </p:pic>
      <p:pic>
        <p:nvPicPr>
          <p:cNvPr id="3" name="Picture 2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590" y="6309360"/>
            <a:ext cx="1371600" cy="4572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2B49"/>
          </a:solidFill>
          <a:ln>
            <a:solidFill>
              <a:srgbClr val="002B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11535" y="182880"/>
            <a:ext cx="2696705" cy="731520"/>
          </a:xfrm>
          <a:prstGeom prst="rect">
            <a:avLst/>
          </a:prstGeom>
        </p:spPr>
      </p:pic>
      <p:pic>
        <p:nvPicPr>
          <p:cNvPr id="6" name="Picture 5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09590" y="6309360"/>
            <a:ext cx="1371600" cy="457200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731520" y="1371600"/>
            <a:ext cx="1097280" cy="1097280"/>
          </a:xfrm>
          <a:prstGeom prst="ellipse">
            <a:avLst/>
          </a:prstGeom>
          <a:solidFill>
            <a:srgbClr val="DAA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106984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Conclusion &amp; Future Work</a:t>
            </a:r>
          </a:p>
          <a:p>
            <a:pPr>
              <a:spcBef>
                <a:spcPts val="1000"/>
              </a:spcBef>
              <a:defRPr sz="1800" i="1">
                <a:solidFill>
                  <a:srgbClr val="C8DCF0"/>
                </a:solidFill>
              </a:defRPr>
            </a:pPr>
            <a:r>
              <a:t>Summary and directions ahead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</a:defRPr>
            </a:pPr>
            <a:r>
              <a:t>✔  ALAS-SCLF establishes an advanced Pareto frontier, resolving TS-SCLF crossover failures.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</a:defRPr>
            </a:pPr>
            <a:r>
              <a:t>✔  Saves up to 36.6% FER for short blocks, 43.2% FER for long blocks, and up to 34.3% decoding complexity.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</a:defRPr>
            </a:pPr>
            <a:r>
              <a:t>✔  Future Work: FPGA/ASIC hardware implementation and hardware-in-the-loop validation.</a:t>
            </a:r>
          </a:p>
          <a:p>
            <a:pPr>
              <a:spcBef>
                <a:spcPts val="800"/>
              </a:spcBef>
              <a:defRPr sz="1400" b="1">
                <a:solidFill>
                  <a:srgbClr val="FFFFFF"/>
                </a:solidFill>
              </a:defRPr>
            </a:pPr>
            <a:r>
              <a:t>✔  Future Work: Extending the adaptive list scaling framework to MIMO and polar-coded cooperative relay systems.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30936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878"/>
                </a:solidFill>
              </a:defRPr>
            </a:pPr>
            <a:r>
              <a:t>IEEE SMC Student Branch Chapter • Kalyani Government Engineering College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0" y="630936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 b="1">
                <a:solidFill>
                  <a:srgbClr val="787878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