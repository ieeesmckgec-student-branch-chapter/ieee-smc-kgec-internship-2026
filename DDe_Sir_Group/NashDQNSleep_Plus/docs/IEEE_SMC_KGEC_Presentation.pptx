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1"/>
  </p:notesMasterIdLst>
  <p:sldIdLst>
    <p:sldId id="257" r:id="rId2"/>
    <p:sldId id="264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Untitled Section" id="{55C4C8D3-4E98-4733-8928-4320ED1614A6}">
          <p14:sldIdLst>
            <p14:sldId id="257"/>
          </p14:sldIdLst>
        </p14:section>
        <p14:section name="Untitled Section" id="{4E9DB54C-102C-456B-B0FD-3BF1955C9364}">
          <p14:sldIdLst>
            <p14:sldId id="264"/>
            <p14:sldId id="258"/>
            <p14:sldId id="259"/>
            <p14:sldId id="260"/>
            <p14:sldId id="261"/>
            <p14:sldId id="262"/>
            <p14:sldId id="263"/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" name="Google Shape;1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" name="Google Shape;1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>
          <a:extLst>
            <a:ext uri="{FF2B5EF4-FFF2-40B4-BE49-F238E27FC236}">
              <a16:creationId xmlns:a16="http://schemas.microsoft.com/office/drawing/2014/main" id="{C2EFA4DE-3D61-55FA-BEE8-7984DD29E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>
            <a:extLst>
              <a:ext uri="{FF2B5EF4-FFF2-40B4-BE49-F238E27FC236}">
                <a16:creationId xmlns:a16="http://schemas.microsoft.com/office/drawing/2014/main" id="{EC081BD3-9BEA-2FA8-D6A5-01B8E8D594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" name="Google Shape;18;p2:notes">
            <a:extLst>
              <a:ext uri="{FF2B5EF4-FFF2-40B4-BE49-F238E27FC236}">
                <a16:creationId xmlns:a16="http://schemas.microsoft.com/office/drawing/2014/main" id="{286E6142-A21F-87F4-23F5-DF2CE8BE79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" name="Google Shape;19;p2:notes">
            <a:extLst>
              <a:ext uri="{FF2B5EF4-FFF2-40B4-BE49-F238E27FC236}">
                <a16:creationId xmlns:a16="http://schemas.microsoft.com/office/drawing/2014/main" id="{30B28E0E-695A-024D-C2F9-B7AC0E08B8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9450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0" name="Google Shape;3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" name="Google Shape;3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2" name="Google Shape;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4" name="Google Shape;5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" name="Google Shape;5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6" name="Google Shape;6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8" name="Google Shape;7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" name="Google Shape;7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0" name="Google Shape;9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2400" y="152400"/>
            <a:ext cx="11641089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822960" y="1417320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4" descr="/home/claude/icon_introduct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" y="1627632"/>
            <a:ext cx="630936" cy="63093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" name="Google Shape;25;p4"/>
          <p:cNvCxnSpPr/>
          <p:nvPr/>
        </p:nvCxnSpPr>
        <p:spPr>
          <a:xfrm>
            <a:off x="822960" y="4282440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4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3;p4">
            <a:extLst>
              <a:ext uri="{FF2B5EF4-FFF2-40B4-BE49-F238E27FC236}">
                <a16:creationId xmlns:a16="http://schemas.microsoft.com/office/drawing/2014/main" id="{D52590DD-5C33-313D-19EE-76DEF14C340E}"/>
              </a:ext>
            </a:extLst>
          </p:cNvPr>
          <p:cNvSpPr/>
          <p:nvPr/>
        </p:nvSpPr>
        <p:spPr>
          <a:xfrm>
            <a:off x="822960" y="297180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NashDQNSleep+: Research gap Analysis and Proposed Extensions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41F03-3B9B-5D4C-1A78-0B861B77FEAB}"/>
              </a:ext>
            </a:extLst>
          </p:cNvPr>
          <p:cNvSpPr txBox="1"/>
          <p:nvPr/>
        </p:nvSpPr>
        <p:spPr>
          <a:xfrm>
            <a:off x="822960" y="4491704"/>
            <a:ext cx="59492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Swastik Basu</a:t>
            </a:r>
          </a:p>
          <a:p>
            <a:r>
              <a:rPr lang="en-US" dirty="0"/>
              <a:t>Department of Computer Science </a:t>
            </a:r>
            <a:br>
              <a:rPr lang="en-US" dirty="0"/>
            </a:br>
            <a:r>
              <a:rPr lang="en-US" dirty="0"/>
              <a:t>Ramakrishna Mission Vivekananda Centenary College, Rahara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Shape 20">
          <a:extLst>
            <a:ext uri="{FF2B5EF4-FFF2-40B4-BE49-F238E27FC236}">
              <a16:creationId xmlns:a16="http://schemas.microsoft.com/office/drawing/2014/main" id="{2B3C6532-B3A4-96A0-B2AA-2E69C1205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9BAE984-E987-B51E-1E49-CE709BD431BF}"/>
              </a:ext>
            </a:extLst>
          </p:cNvPr>
          <p:cNvSpPr/>
          <p:nvPr/>
        </p:nvSpPr>
        <p:spPr>
          <a:xfrm>
            <a:off x="4545078" y="3170668"/>
            <a:ext cx="3158640" cy="202464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Google Shape;21;p4">
            <a:extLst>
              <a:ext uri="{FF2B5EF4-FFF2-40B4-BE49-F238E27FC236}">
                <a16:creationId xmlns:a16="http://schemas.microsoft.com/office/drawing/2014/main" id="{909F2AB0-6A84-4F7E-2C35-0E62F97FEB3A}"/>
              </a:ext>
            </a:extLst>
          </p:cNvPr>
          <p:cNvSpPr/>
          <p:nvPr/>
        </p:nvSpPr>
        <p:spPr>
          <a:xfrm>
            <a:off x="868680" y="836676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4" descr="/home/claude/icon_introduction.png">
            <a:extLst>
              <a:ext uri="{FF2B5EF4-FFF2-40B4-BE49-F238E27FC236}">
                <a16:creationId xmlns:a16="http://schemas.microsoft.com/office/drawing/2014/main" id="{A0509472-3F77-D22D-6DC6-3BD0B5A922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8992" y="1083565"/>
            <a:ext cx="630936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>
            <a:extLst>
              <a:ext uri="{FF2B5EF4-FFF2-40B4-BE49-F238E27FC236}">
                <a16:creationId xmlns:a16="http://schemas.microsoft.com/office/drawing/2014/main" id="{6652B8DE-BA6F-5193-FB57-AEB38F666E8A}"/>
              </a:ext>
            </a:extLst>
          </p:cNvPr>
          <p:cNvSpPr/>
          <p:nvPr/>
        </p:nvSpPr>
        <p:spPr>
          <a:xfrm>
            <a:off x="868680" y="1763074"/>
            <a:ext cx="304318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>
            <a:extLst>
              <a:ext uri="{FF2B5EF4-FFF2-40B4-BE49-F238E27FC236}">
                <a16:creationId xmlns:a16="http://schemas.microsoft.com/office/drawing/2014/main" id="{16D7CD08-A53F-AD11-86B1-466626F98F61}"/>
              </a:ext>
            </a:extLst>
          </p:cNvPr>
          <p:cNvSpPr/>
          <p:nvPr/>
        </p:nvSpPr>
        <p:spPr>
          <a:xfrm>
            <a:off x="817508" y="2600857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700"/>
              <a:buFont typeface="Calibri"/>
              <a:buNone/>
            </a:pPr>
            <a:r>
              <a:rPr lang="en-US" sz="1700" b="0" i="1" u="none" strike="noStrike" cap="none" dirty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Industrial IoT and Sleep Scheduling Challenge</a:t>
            </a:r>
          </a:p>
        </p:txBody>
      </p:sp>
      <p:cxnSp>
        <p:nvCxnSpPr>
          <p:cNvPr id="25" name="Google Shape;25;p4">
            <a:extLst>
              <a:ext uri="{FF2B5EF4-FFF2-40B4-BE49-F238E27FC236}">
                <a16:creationId xmlns:a16="http://schemas.microsoft.com/office/drawing/2014/main" id="{7DD76E3B-D05B-E511-6C7F-1C93E632C253}"/>
              </a:ext>
            </a:extLst>
          </p:cNvPr>
          <p:cNvCxnSpPr/>
          <p:nvPr/>
        </p:nvCxnSpPr>
        <p:spPr>
          <a:xfrm>
            <a:off x="868680" y="2534252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4">
            <a:extLst>
              <a:ext uri="{FF2B5EF4-FFF2-40B4-BE49-F238E27FC236}">
                <a16:creationId xmlns:a16="http://schemas.microsoft.com/office/drawing/2014/main" id="{2D389011-0E6E-DB03-A8CF-667F9E665049}"/>
              </a:ext>
            </a:extLst>
          </p:cNvPr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>
            <a:extLst>
              <a:ext uri="{FF2B5EF4-FFF2-40B4-BE49-F238E27FC236}">
                <a16:creationId xmlns:a16="http://schemas.microsoft.com/office/drawing/2014/main" id="{0CE89F67-308E-F4B9-2316-F7E429C76648}"/>
              </a:ext>
            </a:extLst>
          </p:cNvPr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B24991B-0080-CB66-0DF4-9A115FB2F1EB}"/>
              </a:ext>
            </a:extLst>
          </p:cNvPr>
          <p:cNvGrpSpPr/>
          <p:nvPr/>
        </p:nvGrpSpPr>
        <p:grpSpPr>
          <a:xfrm>
            <a:off x="457200" y="3170668"/>
            <a:ext cx="3253691" cy="2441404"/>
            <a:chOff x="950975" y="3965543"/>
            <a:chExt cx="2487168" cy="207335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EA2AFB96-73F3-3BDA-FB3A-4D1DC35A0527}"/>
                </a:ext>
              </a:extLst>
            </p:cNvPr>
            <p:cNvSpPr/>
            <p:nvPr/>
          </p:nvSpPr>
          <p:spPr>
            <a:xfrm>
              <a:off x="950975" y="3965543"/>
              <a:ext cx="2487168" cy="172323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CA3522F-0C1B-4E09-072D-06A25FFD7128}"/>
                </a:ext>
              </a:extLst>
            </p:cNvPr>
            <p:cNvSpPr txBox="1"/>
            <p:nvPr/>
          </p:nvSpPr>
          <p:spPr>
            <a:xfrm>
              <a:off x="1110307" y="4346126"/>
              <a:ext cx="2327834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800" dirty="0"/>
                <a:t>Continuous Monitoring</a:t>
              </a:r>
              <a:br>
                <a:rPr lang="en-IN" sz="1800" dirty="0"/>
              </a:br>
              <a:r>
                <a:rPr lang="en-IN" sz="1800" dirty="0"/>
                <a:t>↓</a:t>
              </a:r>
              <a:br>
                <a:rPr lang="en-IN" sz="1800" dirty="0"/>
              </a:br>
              <a:r>
                <a:rPr lang="en-IN" sz="1800" dirty="0"/>
                <a:t>High Energy Consumption</a:t>
              </a:r>
            </a:p>
            <a:p>
              <a:endParaRPr lang="en-IN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2947E33-F902-37D3-DA56-64CDFE6B3B0E}"/>
              </a:ext>
            </a:extLst>
          </p:cNvPr>
          <p:cNvSpPr txBox="1"/>
          <p:nvPr/>
        </p:nvSpPr>
        <p:spPr>
          <a:xfrm>
            <a:off x="4932293" y="3669764"/>
            <a:ext cx="2512634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800" dirty="0"/>
              <a:t>Sleep Scheduling</a:t>
            </a:r>
            <a:br>
              <a:rPr lang="en-IN" sz="1800" dirty="0"/>
            </a:br>
            <a:r>
              <a:rPr lang="en-IN" sz="1800" dirty="0"/>
              <a:t>↓</a:t>
            </a:r>
            <a:br>
              <a:rPr lang="en-IN" sz="1800" dirty="0"/>
            </a:br>
            <a:r>
              <a:rPr lang="en-IN" sz="1800" dirty="0"/>
              <a:t>Lower Energy — Higher </a:t>
            </a:r>
            <a:r>
              <a:rPr lang="en-IN" sz="1800" dirty="0" err="1"/>
              <a:t>AoI</a:t>
            </a:r>
            <a:endParaRPr lang="en-IN" sz="1800" dirty="0"/>
          </a:p>
          <a:p>
            <a:pPr algn="ctr"/>
            <a:endParaRPr lang="en-IN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C9BAB5E-0336-B51B-74C9-D5E3AFD00951}"/>
              </a:ext>
            </a:extLst>
          </p:cNvPr>
          <p:cNvGrpSpPr/>
          <p:nvPr/>
        </p:nvGrpSpPr>
        <p:grpSpPr>
          <a:xfrm>
            <a:off x="8894932" y="3170668"/>
            <a:ext cx="2839563" cy="2024648"/>
            <a:chOff x="8258063" y="3965543"/>
            <a:chExt cx="2487168" cy="172323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C9835A1-E68A-B19F-AAD0-1BB45BE5FD08}"/>
                </a:ext>
              </a:extLst>
            </p:cNvPr>
            <p:cNvSpPr/>
            <p:nvPr/>
          </p:nvSpPr>
          <p:spPr>
            <a:xfrm>
              <a:off x="8258063" y="3965543"/>
              <a:ext cx="2487168" cy="172323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213417-627B-8CF5-0A8C-E277F57C8FAC}"/>
                </a:ext>
              </a:extLst>
            </p:cNvPr>
            <p:cNvSpPr txBox="1"/>
            <p:nvPr/>
          </p:nvSpPr>
          <p:spPr>
            <a:xfrm>
              <a:off x="8391275" y="4504373"/>
              <a:ext cx="2310581" cy="785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800" dirty="0" err="1"/>
                <a:t>NashDQNSleep</a:t>
              </a:r>
              <a:endParaRPr lang="en-IN" sz="1800" dirty="0"/>
            </a:p>
            <a:p>
              <a:pPr algn="ctr"/>
              <a:r>
                <a:rPr lang="en-IN" sz="1800" dirty="0"/>
                <a:t>Nash Equilibrium + DQN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E31662-A824-6C77-2404-CDECFA6ADD3F}"/>
              </a:ext>
            </a:extLst>
          </p:cNvPr>
          <p:cNvGrpSpPr/>
          <p:nvPr/>
        </p:nvGrpSpPr>
        <p:grpSpPr>
          <a:xfrm>
            <a:off x="4450377" y="5307927"/>
            <a:ext cx="3476466" cy="1019029"/>
            <a:chOff x="4242317" y="5502936"/>
            <a:chExt cx="3234814" cy="980074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B715AEE-92D8-8ABA-A7FD-72DA4E46E3BF}"/>
                </a:ext>
              </a:extLst>
            </p:cNvPr>
            <p:cNvSpPr/>
            <p:nvPr/>
          </p:nvSpPr>
          <p:spPr>
            <a:xfrm>
              <a:off x="4242318" y="5502936"/>
              <a:ext cx="3234813" cy="98007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C0B3B7-64F8-CDFA-6C55-4271E5224150}"/>
                </a:ext>
              </a:extLst>
            </p:cNvPr>
            <p:cNvSpPr txBox="1"/>
            <p:nvPr/>
          </p:nvSpPr>
          <p:spPr>
            <a:xfrm>
              <a:off x="4242317" y="5548956"/>
              <a:ext cx="3234813" cy="888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800" dirty="0"/>
                <a:t>Goal:</a:t>
              </a:r>
              <a:br>
                <a:rPr lang="en-IN" sz="1800" dirty="0"/>
              </a:br>
              <a:r>
                <a:rPr lang="en-IN" sz="1800" dirty="0"/>
                <a:t>Energy Efficiency ↔ Data Freshness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69872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/>
          <p:nvPr/>
        </p:nvSpPr>
        <p:spPr>
          <a:xfrm>
            <a:off x="822960" y="685799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" name="Google Shape;34;p5" descr="/home/claude/icon_literatur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" y="866945"/>
            <a:ext cx="630936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/>
        </p:nvSpPr>
        <p:spPr>
          <a:xfrm>
            <a:off x="868680" y="1737359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Literature Study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868680" y="2494025"/>
            <a:ext cx="8686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700"/>
              <a:buFont typeface="Calibri"/>
              <a:buNone/>
            </a:pPr>
            <a:r>
              <a:rPr lang="en-US" sz="1700" b="0" i="1" u="none" strike="noStrike" cap="none" dirty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Review of existing research and related work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" name="Google Shape;37;p5"/>
          <p:cNvCxnSpPr/>
          <p:nvPr/>
        </p:nvCxnSpPr>
        <p:spPr>
          <a:xfrm>
            <a:off x="868680" y="3056933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" name="Google Shape;38;p5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FC607EA-FD52-2C4F-3A6E-21476DDEA917}"/>
              </a:ext>
            </a:extLst>
          </p:cNvPr>
          <p:cNvGrpSpPr/>
          <p:nvPr/>
        </p:nvGrpSpPr>
        <p:grpSpPr>
          <a:xfrm>
            <a:off x="171328" y="3482874"/>
            <a:ext cx="2284841" cy="1507943"/>
            <a:chOff x="569334" y="3308395"/>
            <a:chExt cx="2205950" cy="1245992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8D89F67F-B91A-0918-5B3A-F2B0594E9201}"/>
                </a:ext>
              </a:extLst>
            </p:cNvPr>
            <p:cNvSpPr/>
            <p:nvPr/>
          </p:nvSpPr>
          <p:spPr>
            <a:xfrm>
              <a:off x="569334" y="3308395"/>
              <a:ext cx="2205950" cy="124599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DED8CFA-8C8E-BF9F-22F6-97C04380C70C}"/>
                </a:ext>
              </a:extLst>
            </p:cNvPr>
            <p:cNvSpPr txBox="1"/>
            <p:nvPr/>
          </p:nvSpPr>
          <p:spPr>
            <a:xfrm>
              <a:off x="630570" y="3510989"/>
              <a:ext cx="1982805" cy="969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00" dirty="0" err="1"/>
                <a:t>AoI</a:t>
              </a:r>
              <a:r>
                <a:rPr lang="en-US" sz="2500" dirty="0"/>
                <a:t> </a:t>
              </a:r>
              <a:br>
                <a:rPr lang="en-US" sz="2000" dirty="0"/>
              </a:br>
              <a:r>
                <a:rPr lang="en-US" sz="1600" dirty="0"/>
                <a:t>Non Linear freshness</a:t>
              </a:r>
              <a:endParaRPr lang="en-IN" sz="1600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15865B3-1FEB-28E3-2F4B-84FDD77B3D4C}"/>
              </a:ext>
            </a:extLst>
          </p:cNvPr>
          <p:cNvGrpSpPr/>
          <p:nvPr/>
        </p:nvGrpSpPr>
        <p:grpSpPr>
          <a:xfrm>
            <a:off x="2552011" y="3460541"/>
            <a:ext cx="2284842" cy="1478175"/>
            <a:chOff x="569334" y="3308395"/>
            <a:chExt cx="2205950" cy="12459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67B2A3E-3F3E-C686-D59C-8252F0669405}"/>
                </a:ext>
              </a:extLst>
            </p:cNvPr>
            <p:cNvSpPr/>
            <p:nvPr/>
          </p:nvSpPr>
          <p:spPr>
            <a:xfrm>
              <a:off x="569334" y="3308395"/>
              <a:ext cx="2205950" cy="124599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2507F27-BAD2-A70D-DDFF-0359F7129F5F}"/>
                </a:ext>
              </a:extLst>
            </p:cNvPr>
            <p:cNvSpPr txBox="1"/>
            <p:nvPr/>
          </p:nvSpPr>
          <p:spPr>
            <a:xfrm>
              <a:off x="672140" y="3551219"/>
              <a:ext cx="1982805" cy="969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00" dirty="0"/>
                <a:t>Energy</a:t>
              </a:r>
              <a:r>
                <a:rPr lang="en-US" sz="2000" dirty="0"/>
                <a:t>  </a:t>
              </a:r>
              <a:br>
                <a:rPr lang="en-US" sz="2000" dirty="0"/>
              </a:br>
              <a:r>
                <a:rPr lang="en-US" sz="1600" dirty="0" err="1"/>
                <a:t>Energy</a:t>
              </a:r>
              <a:r>
                <a:rPr lang="en-US" sz="1600" dirty="0"/>
                <a:t> Harvesting </a:t>
              </a:r>
              <a:r>
                <a:rPr lang="en-US" sz="1600" dirty="0" err="1"/>
                <a:t>IIoT</a:t>
              </a:r>
              <a:endParaRPr lang="en-IN" sz="16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D185059-050C-D901-76F0-D61EEAE9DA99}"/>
              </a:ext>
            </a:extLst>
          </p:cNvPr>
          <p:cNvGrpSpPr/>
          <p:nvPr/>
        </p:nvGrpSpPr>
        <p:grpSpPr>
          <a:xfrm>
            <a:off x="4956528" y="3408424"/>
            <a:ext cx="2273327" cy="1582394"/>
            <a:chOff x="569334" y="3308395"/>
            <a:chExt cx="2205950" cy="1264287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1C76C74-53C0-A85D-D71C-818F436F72E6}"/>
                </a:ext>
              </a:extLst>
            </p:cNvPr>
            <p:cNvSpPr/>
            <p:nvPr/>
          </p:nvSpPr>
          <p:spPr>
            <a:xfrm>
              <a:off x="569334" y="3308395"/>
              <a:ext cx="2205950" cy="124599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0BA20B6-A68F-534C-04FF-DBB91F738C42}"/>
                </a:ext>
              </a:extLst>
            </p:cNvPr>
            <p:cNvSpPr txBox="1"/>
            <p:nvPr/>
          </p:nvSpPr>
          <p:spPr>
            <a:xfrm>
              <a:off x="672025" y="3603186"/>
              <a:ext cx="2102480" cy="969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300" dirty="0"/>
                <a:t>Node Diversity</a:t>
              </a:r>
              <a:r>
                <a:rPr lang="en-US" sz="2000" dirty="0"/>
                <a:t> </a:t>
              </a:r>
              <a:br>
                <a:rPr lang="en-US" sz="2000" dirty="0"/>
              </a:br>
              <a:r>
                <a:rPr lang="en-US" sz="1600" dirty="0"/>
                <a:t>heterogeneous agent scheduling</a:t>
              </a:r>
              <a:endParaRPr lang="en-IN" sz="16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E73F948-3F49-28CC-F21A-05FCBBE703EF}"/>
              </a:ext>
            </a:extLst>
          </p:cNvPr>
          <p:cNvGrpSpPr/>
          <p:nvPr/>
        </p:nvGrpSpPr>
        <p:grpSpPr>
          <a:xfrm>
            <a:off x="9742531" y="3340345"/>
            <a:ext cx="2205950" cy="1731794"/>
            <a:chOff x="569334" y="3308395"/>
            <a:chExt cx="2205950" cy="1389832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583FE53-FC65-F3C5-0D4D-AF1A9DA513A7}"/>
                </a:ext>
              </a:extLst>
            </p:cNvPr>
            <p:cNvSpPr/>
            <p:nvPr/>
          </p:nvSpPr>
          <p:spPr>
            <a:xfrm>
              <a:off x="569334" y="3308395"/>
              <a:ext cx="2205950" cy="124599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EB708A-5161-D424-C980-9218A7A70666}"/>
                </a:ext>
              </a:extLst>
            </p:cNvPr>
            <p:cNvSpPr txBox="1"/>
            <p:nvPr/>
          </p:nvSpPr>
          <p:spPr>
            <a:xfrm>
              <a:off x="672805" y="3482510"/>
              <a:ext cx="1888493" cy="12157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00" dirty="0"/>
                <a:t>Relaying</a:t>
              </a:r>
              <a:r>
                <a:rPr lang="en-US" sz="2000" dirty="0"/>
                <a:t> </a:t>
              </a:r>
              <a:br>
                <a:rPr lang="en-US" sz="2000" dirty="0"/>
              </a:br>
              <a:r>
                <a:rPr lang="en-US" sz="1600" dirty="0"/>
                <a:t>Multi-hop and relay-aware </a:t>
              </a:r>
              <a:r>
                <a:rPr lang="en-US" sz="1600" dirty="0" err="1"/>
                <a:t>AoI</a:t>
              </a:r>
              <a:r>
                <a:rPr lang="en-US" sz="1600" dirty="0"/>
                <a:t> scheduling</a:t>
              </a:r>
              <a:endParaRPr lang="en-IN" sz="2000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87DF5E-9375-15F1-87FD-EA9735A435CE}"/>
              </a:ext>
            </a:extLst>
          </p:cNvPr>
          <p:cNvGrpSpPr/>
          <p:nvPr/>
        </p:nvGrpSpPr>
        <p:grpSpPr>
          <a:xfrm>
            <a:off x="7349530" y="3340345"/>
            <a:ext cx="2273327" cy="1552563"/>
            <a:chOff x="569334" y="3308395"/>
            <a:chExt cx="2205950" cy="1245992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B5D33A-36F5-CB53-CD6E-51C773E0A9E9}"/>
                </a:ext>
              </a:extLst>
            </p:cNvPr>
            <p:cNvSpPr/>
            <p:nvPr/>
          </p:nvSpPr>
          <p:spPr>
            <a:xfrm>
              <a:off x="569334" y="3308395"/>
              <a:ext cx="2205950" cy="1245992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A580375-7199-1BAA-BBD7-0104C1253B1A}"/>
                </a:ext>
              </a:extLst>
            </p:cNvPr>
            <p:cNvSpPr txBox="1"/>
            <p:nvPr/>
          </p:nvSpPr>
          <p:spPr>
            <a:xfrm>
              <a:off x="682126" y="3482509"/>
              <a:ext cx="1980366" cy="9694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00" dirty="0"/>
                <a:t>Deployment</a:t>
              </a:r>
              <a:r>
                <a:rPr lang="en-US" sz="2000" dirty="0"/>
                <a:t> </a:t>
              </a:r>
              <a:br>
                <a:rPr lang="en-US" sz="2000" dirty="0"/>
              </a:br>
              <a:r>
                <a:rPr lang="en-US" sz="1600" dirty="0"/>
                <a:t>Real-world DRL/ hardware validation</a:t>
              </a:r>
              <a:endParaRPr lang="en-IN" sz="1600" dirty="0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97EA109-8413-E2AD-238C-C05084006F03}"/>
              </a:ext>
            </a:extLst>
          </p:cNvPr>
          <p:cNvSpPr/>
          <p:nvPr/>
        </p:nvSpPr>
        <p:spPr>
          <a:xfrm>
            <a:off x="2288470" y="5359780"/>
            <a:ext cx="7928658" cy="60880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4BB5CB-33D6-031B-9F44-C1908EB8A21D}"/>
              </a:ext>
            </a:extLst>
          </p:cNvPr>
          <p:cNvSpPr txBox="1"/>
          <p:nvPr/>
        </p:nvSpPr>
        <p:spPr>
          <a:xfrm>
            <a:off x="2552011" y="5423033"/>
            <a:ext cx="74860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Existing literature addresses these challenges individually, while NashDQNSleep does not fully incorporate them into its current formulation.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2960" y="690372"/>
            <a:ext cx="1051560" cy="10515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" name="Google Shape;46;p6" descr="/home/claude/icon_contribut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272" y="900684"/>
            <a:ext cx="630936" cy="63093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/>
          <p:nvPr/>
        </p:nvSpPr>
        <p:spPr>
          <a:xfrm>
            <a:off x="920765" y="1673785"/>
            <a:ext cx="326290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Contribution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920765" y="2245068"/>
            <a:ext cx="33670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700"/>
              <a:buFont typeface="Calibri"/>
              <a:buNone/>
            </a:pPr>
            <a:r>
              <a:rPr lang="en-US" sz="1700" i="1" dirty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Works done and gaps identified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6"/>
          <p:cNvCxnSpPr/>
          <p:nvPr/>
        </p:nvCxnSpPr>
        <p:spPr>
          <a:xfrm>
            <a:off x="935648" y="2588185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0" name="Google Shape;50;p6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0C1D699-237D-9B10-BF34-737821BC225E}"/>
              </a:ext>
            </a:extLst>
          </p:cNvPr>
          <p:cNvGrpSpPr/>
          <p:nvPr/>
        </p:nvGrpSpPr>
        <p:grpSpPr>
          <a:xfrm>
            <a:off x="628862" y="3135706"/>
            <a:ext cx="11400572" cy="956482"/>
            <a:chOff x="567902" y="2801096"/>
            <a:chExt cx="11400572" cy="95648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B227BF7-A67C-ED49-CD0F-4CCFBCE9FD05}"/>
                </a:ext>
              </a:extLst>
            </p:cNvPr>
            <p:cNvGrpSpPr/>
            <p:nvPr/>
          </p:nvGrpSpPr>
          <p:grpSpPr>
            <a:xfrm>
              <a:off x="567902" y="2852258"/>
              <a:ext cx="1758206" cy="905320"/>
              <a:chOff x="545612" y="3093230"/>
              <a:chExt cx="1758206" cy="905320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BE8AAA87-A435-3BAA-ED48-4C47B7AEA6DB}"/>
                  </a:ext>
                </a:extLst>
              </p:cNvPr>
              <p:cNvSpPr/>
              <p:nvPr/>
            </p:nvSpPr>
            <p:spPr>
              <a:xfrm>
                <a:off x="563410" y="3093230"/>
                <a:ext cx="1740408" cy="905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9BD83BC-76EF-FA01-6E75-716D15CADE0B}"/>
                  </a:ext>
                </a:extLst>
              </p:cNvPr>
              <p:cNvSpPr txBox="1"/>
              <p:nvPr/>
            </p:nvSpPr>
            <p:spPr>
              <a:xfrm>
                <a:off x="545612" y="3144792"/>
                <a:ext cx="174040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Linear </a:t>
                </a:r>
                <a:r>
                  <a:rPr lang="en-US" sz="2400" b="1" dirty="0" err="1"/>
                  <a:t>AoI</a:t>
                </a:r>
                <a:r>
                  <a:rPr lang="en-US" sz="2400" b="1" dirty="0"/>
                  <a:t> model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D90299C-CD95-0B78-33CF-419DE071D7B7}"/>
                </a:ext>
              </a:extLst>
            </p:cNvPr>
            <p:cNvGrpSpPr/>
            <p:nvPr/>
          </p:nvGrpSpPr>
          <p:grpSpPr>
            <a:xfrm>
              <a:off x="2719092" y="2829497"/>
              <a:ext cx="1889747" cy="918465"/>
              <a:chOff x="2719092" y="2829497"/>
              <a:chExt cx="1889747" cy="918465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059B8AC-5DDB-6B33-AE3D-A57B456B6FB9}"/>
                  </a:ext>
                </a:extLst>
              </p:cNvPr>
              <p:cNvSpPr/>
              <p:nvPr/>
            </p:nvSpPr>
            <p:spPr>
              <a:xfrm>
                <a:off x="2719092" y="2829497"/>
                <a:ext cx="1889746" cy="905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C95C3F0-B8FB-FD77-3CCA-7B9F6E11C750}"/>
                  </a:ext>
                </a:extLst>
              </p:cNvPr>
              <p:cNvSpPr txBox="1"/>
              <p:nvPr/>
            </p:nvSpPr>
            <p:spPr>
              <a:xfrm>
                <a:off x="2748857" y="2916965"/>
                <a:ext cx="185998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No Energy Harvesting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D23B61E-8931-B946-30E9-0E976DB97FF7}"/>
                </a:ext>
              </a:extLst>
            </p:cNvPr>
            <p:cNvGrpSpPr/>
            <p:nvPr/>
          </p:nvGrpSpPr>
          <p:grpSpPr>
            <a:xfrm>
              <a:off x="5001822" y="2802922"/>
              <a:ext cx="2418947" cy="911114"/>
              <a:chOff x="5001822" y="2802922"/>
              <a:chExt cx="2418947" cy="911114"/>
            </a:xfrm>
          </p:grpSpPr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FFD84AC7-3508-3EA2-D03A-F9E75C350685}"/>
                  </a:ext>
                </a:extLst>
              </p:cNvPr>
              <p:cNvSpPr/>
              <p:nvPr/>
            </p:nvSpPr>
            <p:spPr>
              <a:xfrm>
                <a:off x="5146115" y="2802922"/>
                <a:ext cx="2130363" cy="911103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0580AFB-6BF3-22BB-9916-9C03F6461E50}"/>
                  </a:ext>
                </a:extLst>
              </p:cNvPr>
              <p:cNvSpPr txBox="1"/>
              <p:nvPr/>
            </p:nvSpPr>
            <p:spPr>
              <a:xfrm>
                <a:off x="5001822" y="2883039"/>
                <a:ext cx="241894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Homogeneous Nodes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62F1D22-F0A1-9E04-8C07-C62117B87D3B}"/>
                </a:ext>
              </a:extLst>
            </p:cNvPr>
            <p:cNvGrpSpPr/>
            <p:nvPr/>
          </p:nvGrpSpPr>
          <p:grpSpPr>
            <a:xfrm>
              <a:off x="7717025" y="2801096"/>
              <a:ext cx="1740408" cy="912940"/>
              <a:chOff x="7717025" y="2801096"/>
              <a:chExt cx="1740408" cy="912940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CD630AA2-60E6-373F-EB11-257C8F2532AA}"/>
                  </a:ext>
                </a:extLst>
              </p:cNvPr>
              <p:cNvSpPr/>
              <p:nvPr/>
            </p:nvSpPr>
            <p:spPr>
              <a:xfrm>
                <a:off x="7717025" y="2801096"/>
                <a:ext cx="1740408" cy="905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5DCC66A-98C4-DF3D-2024-E4F71180A248}"/>
                  </a:ext>
                </a:extLst>
              </p:cNvPr>
              <p:cNvSpPr txBox="1"/>
              <p:nvPr/>
            </p:nvSpPr>
            <p:spPr>
              <a:xfrm>
                <a:off x="7717025" y="2883039"/>
                <a:ext cx="174040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Simulation Only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0556C7D-979F-C0FC-7ADF-4881448CE72D}"/>
                </a:ext>
              </a:extLst>
            </p:cNvPr>
            <p:cNvGrpSpPr/>
            <p:nvPr/>
          </p:nvGrpSpPr>
          <p:grpSpPr>
            <a:xfrm>
              <a:off x="9897978" y="2801096"/>
              <a:ext cx="2070496" cy="905320"/>
              <a:chOff x="9897978" y="2801096"/>
              <a:chExt cx="2070496" cy="905320"/>
            </a:xfrm>
          </p:grpSpPr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0577D27E-C74F-648B-3724-097452829A3E}"/>
                  </a:ext>
                </a:extLst>
              </p:cNvPr>
              <p:cNvSpPr/>
              <p:nvPr/>
            </p:nvSpPr>
            <p:spPr>
              <a:xfrm>
                <a:off x="9897978" y="2801096"/>
                <a:ext cx="2070495" cy="905320"/>
              </a:xfrm>
              <a:prstGeom prst="round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FB1108A-EDD1-CC1B-854D-3EB7EC8BDD49}"/>
                  </a:ext>
                </a:extLst>
              </p:cNvPr>
              <p:cNvSpPr txBox="1"/>
              <p:nvPr/>
            </p:nvSpPr>
            <p:spPr>
              <a:xfrm>
                <a:off x="9897979" y="2875419"/>
                <a:ext cx="207049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Relay Aware Scheduling</a:t>
                </a:r>
              </a:p>
            </p:txBody>
          </p:sp>
        </p:grpSp>
      </p:grpSp>
      <p:sp>
        <p:nvSpPr>
          <p:cNvPr id="18" name="Google Shape;48;p6">
            <a:extLst>
              <a:ext uri="{FF2B5EF4-FFF2-40B4-BE49-F238E27FC236}">
                <a16:creationId xmlns:a16="http://schemas.microsoft.com/office/drawing/2014/main" id="{DA7F8ECC-E390-ECCC-8A19-EE9A7CB594C2}"/>
              </a:ext>
            </a:extLst>
          </p:cNvPr>
          <p:cNvSpPr/>
          <p:nvPr/>
        </p:nvSpPr>
        <p:spPr>
          <a:xfrm>
            <a:off x="4356615" y="4390144"/>
            <a:ext cx="33670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buClr>
                <a:srgbClr val="5B5B72"/>
              </a:buClr>
              <a:buSzPts val="1700"/>
            </a:pPr>
            <a:r>
              <a:rPr lang="en-US" sz="2000" b="1" i="1" dirty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Works Done in NashDQNSleep+</a:t>
            </a:r>
            <a:endParaRPr lang="en-US" sz="2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1CBC067-482B-253D-C3FF-3E22DEB2BA6B}"/>
              </a:ext>
            </a:extLst>
          </p:cNvPr>
          <p:cNvGrpSpPr/>
          <p:nvPr/>
        </p:nvGrpSpPr>
        <p:grpSpPr>
          <a:xfrm>
            <a:off x="9205498" y="4936547"/>
            <a:ext cx="2070495" cy="905320"/>
            <a:chOff x="545611" y="3093230"/>
            <a:chExt cx="1792097" cy="905320"/>
          </a:xfrm>
        </p:grpSpPr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AA174D88-94FF-9CD4-D9FB-A88B14B6E546}"/>
                </a:ext>
              </a:extLst>
            </p:cNvPr>
            <p:cNvSpPr/>
            <p:nvPr/>
          </p:nvSpPr>
          <p:spPr>
            <a:xfrm>
              <a:off x="563410" y="3093230"/>
              <a:ext cx="1740408" cy="90532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E7E2C01-2C7A-01CD-8519-BB1DA9135700}"/>
                </a:ext>
              </a:extLst>
            </p:cNvPr>
            <p:cNvSpPr txBox="1"/>
            <p:nvPr/>
          </p:nvSpPr>
          <p:spPr>
            <a:xfrm>
              <a:off x="545611" y="3144792"/>
              <a:ext cx="17920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Relay-aware Reward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74A0C97-EA99-12B1-D87F-B936E3E236AE}"/>
              </a:ext>
            </a:extLst>
          </p:cNvPr>
          <p:cNvGrpSpPr/>
          <p:nvPr/>
        </p:nvGrpSpPr>
        <p:grpSpPr>
          <a:xfrm>
            <a:off x="1905759" y="4959308"/>
            <a:ext cx="1758206" cy="905320"/>
            <a:chOff x="545612" y="3093230"/>
            <a:chExt cx="1758206" cy="905320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CB458503-136B-1913-39F6-30A229E54372}"/>
                </a:ext>
              </a:extLst>
            </p:cNvPr>
            <p:cNvSpPr/>
            <p:nvPr/>
          </p:nvSpPr>
          <p:spPr>
            <a:xfrm>
              <a:off x="563410" y="3093230"/>
              <a:ext cx="1740408" cy="90532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2012FC6-75A5-8ED9-4699-1A0C25E04E51}"/>
                </a:ext>
              </a:extLst>
            </p:cNvPr>
            <p:cNvSpPr txBox="1"/>
            <p:nvPr/>
          </p:nvSpPr>
          <p:spPr>
            <a:xfrm>
              <a:off x="545612" y="3144792"/>
              <a:ext cx="17404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Non-Linear </a:t>
              </a:r>
              <a:r>
                <a:rPr lang="en-US" sz="2400" b="1" dirty="0" err="1"/>
                <a:t>AoI</a:t>
              </a:r>
              <a:endParaRPr lang="en-US" sz="2400" b="1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6924ABB-E28B-6DDD-E91A-E16F80F846C9}"/>
              </a:ext>
            </a:extLst>
          </p:cNvPr>
          <p:cNvGrpSpPr/>
          <p:nvPr/>
        </p:nvGrpSpPr>
        <p:grpSpPr>
          <a:xfrm>
            <a:off x="5240419" y="4982069"/>
            <a:ext cx="1944286" cy="905320"/>
            <a:chOff x="453839" y="3093230"/>
            <a:chExt cx="1944286" cy="905320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E4026E6B-2FFC-6D1D-6545-507CF16A568C}"/>
                </a:ext>
              </a:extLst>
            </p:cNvPr>
            <p:cNvSpPr/>
            <p:nvPr/>
          </p:nvSpPr>
          <p:spPr>
            <a:xfrm>
              <a:off x="563410" y="3093230"/>
              <a:ext cx="1740408" cy="905320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4F1D3CF-1AA5-56B7-F1FC-B59813A189D6}"/>
                </a:ext>
              </a:extLst>
            </p:cNvPr>
            <p:cNvSpPr txBox="1"/>
            <p:nvPr/>
          </p:nvSpPr>
          <p:spPr>
            <a:xfrm>
              <a:off x="453839" y="3144792"/>
              <a:ext cx="194428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Energy Harvesting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F9BFD026-59A8-766B-0D5D-576B3092503D}"/>
              </a:ext>
            </a:extLst>
          </p:cNvPr>
          <p:cNvSpPr txBox="1"/>
          <p:nvPr/>
        </p:nvSpPr>
        <p:spPr>
          <a:xfrm>
            <a:off x="4528976" y="2601360"/>
            <a:ext cx="29527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700"/>
              <a:buFont typeface="Calibri"/>
              <a:buNone/>
            </a:pPr>
            <a:r>
              <a:rPr lang="en-US" sz="2000" b="1" i="1" dirty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Gaps in NashDQNSleep</a:t>
            </a:r>
            <a:endParaRPr lang="en-US" sz="20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177EE5F-B19F-CC62-5FE1-10BC556A88A2}"/>
              </a:ext>
            </a:extLst>
          </p:cNvPr>
          <p:cNvGrpSpPr/>
          <p:nvPr/>
        </p:nvGrpSpPr>
        <p:grpSpPr>
          <a:xfrm>
            <a:off x="822960" y="640081"/>
            <a:ext cx="1051560" cy="1051560"/>
            <a:chOff x="822960" y="457200"/>
            <a:chExt cx="1051560" cy="1051560"/>
          </a:xfrm>
        </p:grpSpPr>
        <p:sp>
          <p:nvSpPr>
            <p:cNvPr id="57" name="Google Shape;57;p7"/>
            <p:cNvSpPr/>
            <p:nvPr/>
          </p:nvSpPr>
          <p:spPr>
            <a:xfrm>
              <a:off x="822960" y="457200"/>
              <a:ext cx="1051560" cy="1051560"/>
            </a:xfrm>
            <a:prstGeom prst="ellipse">
              <a:avLst/>
            </a:prstGeom>
            <a:solidFill>
              <a:srgbClr val="1E27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" name="Google Shape;58;p7" descr="/home/claude/icon_methodology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3272" y="649224"/>
              <a:ext cx="630936" cy="6309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7"/>
          <p:cNvSpPr/>
          <p:nvPr/>
        </p:nvSpPr>
        <p:spPr>
          <a:xfrm>
            <a:off x="822960" y="1805941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7"/>
          <p:cNvSpPr/>
          <p:nvPr/>
        </p:nvSpPr>
        <p:spPr>
          <a:xfrm>
            <a:off x="822960" y="2392691"/>
            <a:ext cx="3886200" cy="525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700"/>
              <a:buFont typeface="Calibri"/>
              <a:buNone/>
            </a:pPr>
            <a:r>
              <a:rPr lang="en-US" sz="1700" b="0" i="1" u="none" strike="noStrike" cap="none" dirty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Research Gap Identification Methodology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7"/>
          <p:cNvCxnSpPr/>
          <p:nvPr/>
        </p:nvCxnSpPr>
        <p:spPr>
          <a:xfrm>
            <a:off x="822960" y="2887982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" name="Google Shape;62;p7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88EF2A2-04DE-CB82-78B2-C6F2CE171001}"/>
              </a:ext>
            </a:extLst>
          </p:cNvPr>
          <p:cNvGrpSpPr/>
          <p:nvPr/>
        </p:nvGrpSpPr>
        <p:grpSpPr>
          <a:xfrm>
            <a:off x="822960" y="3154681"/>
            <a:ext cx="1432560" cy="784858"/>
            <a:chOff x="822960" y="3154681"/>
            <a:chExt cx="1432560" cy="78485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CA86A7D-98B6-1763-8C1D-6D3AFABEC4CD}"/>
                </a:ext>
              </a:extLst>
            </p:cNvPr>
            <p:cNvSpPr/>
            <p:nvPr/>
          </p:nvSpPr>
          <p:spPr>
            <a:xfrm>
              <a:off x="822960" y="3154681"/>
              <a:ext cx="1432560" cy="78485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3611199-2428-76CD-E3A7-DED985ED7965}"/>
                </a:ext>
              </a:extLst>
            </p:cNvPr>
            <p:cNvSpPr txBox="1"/>
            <p:nvPr/>
          </p:nvSpPr>
          <p:spPr>
            <a:xfrm>
              <a:off x="1107948" y="3350806"/>
              <a:ext cx="8625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Paper</a:t>
              </a:r>
              <a:endParaRPr lang="en-IN" sz="2000" dirty="0"/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E134697-66EC-874D-6989-EB2C4C79988B}"/>
              </a:ext>
            </a:extLst>
          </p:cNvPr>
          <p:cNvSpPr/>
          <p:nvPr/>
        </p:nvSpPr>
        <p:spPr>
          <a:xfrm>
            <a:off x="2900323" y="3044430"/>
            <a:ext cx="2016176" cy="102107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B21050-5DDC-3442-9CAF-C7DB01384E8A}"/>
              </a:ext>
            </a:extLst>
          </p:cNvPr>
          <p:cNvSpPr txBox="1"/>
          <p:nvPr/>
        </p:nvSpPr>
        <p:spPr>
          <a:xfrm>
            <a:off x="3016947" y="3231651"/>
            <a:ext cx="1782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Mathematical analysis</a:t>
            </a:r>
            <a:endParaRPr lang="en-IN" sz="20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7A01D21-97C1-9273-EC15-5C08BAE5F702}"/>
              </a:ext>
            </a:extLst>
          </p:cNvPr>
          <p:cNvGrpSpPr/>
          <p:nvPr/>
        </p:nvGrpSpPr>
        <p:grpSpPr>
          <a:xfrm>
            <a:off x="5669470" y="3058222"/>
            <a:ext cx="1859204" cy="1021078"/>
            <a:chOff x="5882792" y="2965086"/>
            <a:chExt cx="1859204" cy="1021078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B86B2DCB-251A-C842-9B17-2C40D2C5DA59}"/>
                </a:ext>
              </a:extLst>
            </p:cNvPr>
            <p:cNvSpPr/>
            <p:nvPr/>
          </p:nvSpPr>
          <p:spPr>
            <a:xfrm>
              <a:off x="5882792" y="2965086"/>
              <a:ext cx="1859204" cy="102107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01DC2D-D080-436C-521E-4893EACDF18E}"/>
                </a:ext>
              </a:extLst>
            </p:cNvPr>
            <p:cNvSpPr txBox="1"/>
            <p:nvPr/>
          </p:nvSpPr>
          <p:spPr>
            <a:xfrm>
              <a:off x="6035154" y="3154681"/>
              <a:ext cx="155448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Assumption Analysis</a:t>
              </a:r>
              <a:endParaRPr lang="en-IN" sz="200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C1641B-2A04-A320-7E54-A0BCB1A88FC0}"/>
              </a:ext>
            </a:extLst>
          </p:cNvPr>
          <p:cNvGrpSpPr/>
          <p:nvPr/>
        </p:nvGrpSpPr>
        <p:grpSpPr>
          <a:xfrm>
            <a:off x="8425054" y="3112776"/>
            <a:ext cx="1733246" cy="1021077"/>
            <a:chOff x="8686800" y="3075056"/>
            <a:chExt cx="1733246" cy="1021077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2C55B50-D296-9BB1-543D-A3B101A9B377}"/>
                </a:ext>
              </a:extLst>
            </p:cNvPr>
            <p:cNvSpPr/>
            <p:nvPr/>
          </p:nvSpPr>
          <p:spPr>
            <a:xfrm>
              <a:off x="8686800" y="3075056"/>
              <a:ext cx="1733246" cy="1021077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E9EBA7D-5053-68B8-566C-930FB2AAEC33}"/>
                </a:ext>
              </a:extLst>
            </p:cNvPr>
            <p:cNvSpPr txBox="1"/>
            <p:nvPr/>
          </p:nvSpPr>
          <p:spPr>
            <a:xfrm>
              <a:off x="8761971" y="3247817"/>
              <a:ext cx="158290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Literature Review</a:t>
              </a:r>
              <a:endParaRPr lang="en-IN" sz="20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5537000-3E06-8579-B7D0-2811F480D4EE}"/>
              </a:ext>
            </a:extLst>
          </p:cNvPr>
          <p:cNvGrpSpPr/>
          <p:nvPr/>
        </p:nvGrpSpPr>
        <p:grpSpPr>
          <a:xfrm>
            <a:off x="8234553" y="4624503"/>
            <a:ext cx="2114246" cy="1084688"/>
            <a:chOff x="8554669" y="4936934"/>
            <a:chExt cx="2114246" cy="108468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83650B3F-3DBB-5232-938C-16976D83638F}"/>
                </a:ext>
              </a:extLst>
            </p:cNvPr>
            <p:cNvSpPr/>
            <p:nvPr/>
          </p:nvSpPr>
          <p:spPr>
            <a:xfrm>
              <a:off x="8554669" y="4936934"/>
              <a:ext cx="2114246" cy="1084688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AC45DAA-B334-5610-6C18-5751EA618431}"/>
                </a:ext>
              </a:extLst>
            </p:cNvPr>
            <p:cNvSpPr txBox="1"/>
            <p:nvPr/>
          </p:nvSpPr>
          <p:spPr>
            <a:xfrm>
              <a:off x="8690725" y="5060766"/>
              <a:ext cx="184213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/>
                <a:t>Gap</a:t>
              </a:r>
            </a:p>
            <a:p>
              <a:pPr algn="ctr"/>
              <a:r>
                <a:rPr lang="en-US" sz="2000" dirty="0"/>
                <a:t> </a:t>
              </a:r>
              <a:r>
                <a:rPr lang="en-US" sz="2000" dirty="0" err="1"/>
                <a:t>Vallidation</a:t>
              </a:r>
              <a:endParaRPr lang="en-IN" sz="2000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09FD521-D4BF-4564-E83E-E6DE2027A9FE}"/>
              </a:ext>
            </a:extLst>
          </p:cNvPr>
          <p:cNvGrpSpPr/>
          <p:nvPr/>
        </p:nvGrpSpPr>
        <p:grpSpPr>
          <a:xfrm>
            <a:off x="4250416" y="4631146"/>
            <a:ext cx="2432648" cy="962543"/>
            <a:chOff x="4937798" y="5114168"/>
            <a:chExt cx="2432648" cy="962543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D9E53B5-CA75-7D88-00AD-F1A820EDA0E6}"/>
                </a:ext>
              </a:extLst>
            </p:cNvPr>
            <p:cNvSpPr/>
            <p:nvPr/>
          </p:nvSpPr>
          <p:spPr>
            <a:xfrm>
              <a:off x="4937798" y="5114168"/>
              <a:ext cx="2296592" cy="962543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95C5714-BA2E-0492-0E75-81143D4F2BBC}"/>
                </a:ext>
              </a:extLst>
            </p:cNvPr>
            <p:cNvSpPr txBox="1"/>
            <p:nvPr/>
          </p:nvSpPr>
          <p:spPr>
            <a:xfrm>
              <a:off x="5073854" y="5364480"/>
              <a:ext cx="229659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NashDQNSleep+</a:t>
              </a:r>
              <a:endParaRPr lang="en-IN" sz="2000" dirty="0"/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406C553-3893-2263-90C4-E5097871213A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2255520" y="3547110"/>
            <a:ext cx="644803" cy="786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91F181C-394B-7322-4AE7-10748F4A2260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4916499" y="3554970"/>
            <a:ext cx="752971" cy="1379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3D8222E-B3F7-EEC8-7B67-B33888E2373D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554583" y="3623315"/>
            <a:ext cx="870471" cy="122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7955A4C-66C7-1C43-FB5E-67467D7C053B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6523862" y="5161887"/>
            <a:ext cx="1710691" cy="496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2C18E22-1165-3106-3CA2-61F8B019ED9E}"/>
              </a:ext>
            </a:extLst>
          </p:cNvPr>
          <p:cNvCxnSpPr>
            <a:cxnSpLocks/>
            <a:stCxn id="12" idx="2"/>
            <a:endCxn id="10" idx="0"/>
          </p:cNvCxnSpPr>
          <p:nvPr/>
        </p:nvCxnSpPr>
        <p:spPr>
          <a:xfrm flipH="1">
            <a:off x="9291676" y="4133853"/>
            <a:ext cx="1" cy="49065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7D01F64-E356-2A02-155B-7F313AFD3F2C}"/>
              </a:ext>
            </a:extLst>
          </p:cNvPr>
          <p:cNvSpPr txBox="1"/>
          <p:nvPr/>
        </p:nvSpPr>
        <p:spPr>
          <a:xfrm>
            <a:off x="2766060" y="5857994"/>
            <a:ext cx="6031346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Equations + Assumptions + Literature = Research Gaps</a:t>
            </a:r>
            <a:endParaRPr lang="en-IN" sz="18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26887C3-AC46-CA97-A8C5-E764D684B67D}"/>
              </a:ext>
            </a:extLst>
          </p:cNvPr>
          <p:cNvGrpSpPr/>
          <p:nvPr/>
        </p:nvGrpSpPr>
        <p:grpSpPr>
          <a:xfrm>
            <a:off x="822960" y="868680"/>
            <a:ext cx="1051560" cy="1051560"/>
            <a:chOff x="822960" y="1417320"/>
            <a:chExt cx="1051560" cy="1051560"/>
          </a:xfrm>
        </p:grpSpPr>
        <p:sp>
          <p:nvSpPr>
            <p:cNvPr id="69" name="Google Shape;69;p8"/>
            <p:cNvSpPr/>
            <p:nvPr/>
          </p:nvSpPr>
          <p:spPr>
            <a:xfrm>
              <a:off x="822960" y="1417320"/>
              <a:ext cx="1051560" cy="1051560"/>
            </a:xfrm>
            <a:prstGeom prst="ellipse">
              <a:avLst/>
            </a:prstGeom>
            <a:solidFill>
              <a:srgbClr val="1E27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0" name="Google Shape;70;p8" descr="/home/claude/icon_results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3272" y="1627632"/>
              <a:ext cx="630936" cy="6309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8"/>
          <p:cNvSpPr/>
          <p:nvPr/>
        </p:nvSpPr>
        <p:spPr>
          <a:xfrm>
            <a:off x="822960" y="1805941"/>
            <a:ext cx="1859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822960" y="2405144"/>
            <a:ext cx="2788920" cy="5257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700"/>
              <a:buFont typeface="Calibri"/>
              <a:buNone/>
            </a:pPr>
            <a:r>
              <a:rPr lang="en-US" sz="1700" b="0" i="1" u="none" strike="noStrike" cap="none" dirty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Key findings and observations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8"/>
          <p:cNvCxnSpPr/>
          <p:nvPr/>
        </p:nvCxnSpPr>
        <p:spPr>
          <a:xfrm>
            <a:off x="822960" y="2930895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4" name="Google Shape;74;p8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D8CF5E-7FD1-60DC-3B93-32BB9F823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076780"/>
              </p:ext>
            </p:extLst>
          </p:nvPr>
        </p:nvGraphicFramePr>
        <p:xfrm>
          <a:off x="1521915" y="3141449"/>
          <a:ext cx="9148170" cy="28989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9390">
                  <a:extLst>
                    <a:ext uri="{9D8B030D-6E8A-4147-A177-3AD203B41FA5}">
                      <a16:colId xmlns:a16="http://schemas.microsoft.com/office/drawing/2014/main" val="2015828118"/>
                    </a:ext>
                  </a:extLst>
                </a:gridCol>
                <a:gridCol w="3049390">
                  <a:extLst>
                    <a:ext uri="{9D8B030D-6E8A-4147-A177-3AD203B41FA5}">
                      <a16:colId xmlns:a16="http://schemas.microsoft.com/office/drawing/2014/main" val="961783059"/>
                    </a:ext>
                  </a:extLst>
                </a:gridCol>
                <a:gridCol w="3049390">
                  <a:extLst>
                    <a:ext uri="{9D8B030D-6E8A-4147-A177-3AD203B41FA5}">
                      <a16:colId xmlns:a16="http://schemas.microsoft.com/office/drawing/2014/main" val="1408626942"/>
                    </a:ext>
                  </a:extLst>
                </a:gridCol>
              </a:tblGrid>
              <a:tr h="43959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Finding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Direction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729683"/>
                  </a:ext>
                </a:extLst>
              </a:tr>
              <a:tr h="439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AoI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Linear growth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Non-linear model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3325468"/>
                  </a:ext>
                </a:extLst>
              </a:tr>
              <a:tr h="439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Energy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 Harvesting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Energy-aware state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364303"/>
                  </a:ext>
                </a:extLst>
              </a:tr>
              <a:tr h="439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Nodes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Homogeneous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Heterogeneous Extension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800723"/>
                  </a:ext>
                </a:extLst>
              </a:tr>
              <a:tr h="439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Validation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Simulation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Hardware validation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127507"/>
                  </a:ext>
                </a:extLst>
              </a:tr>
              <a:tr h="43959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Relay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Limited awareness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Relay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6056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F23235D-1456-3D15-F9E3-33B199311C64}"/>
              </a:ext>
            </a:extLst>
          </p:cNvPr>
          <p:cNvGrpSpPr/>
          <p:nvPr/>
        </p:nvGrpSpPr>
        <p:grpSpPr>
          <a:xfrm>
            <a:off x="822960" y="868680"/>
            <a:ext cx="1051560" cy="1051560"/>
            <a:chOff x="822960" y="1417320"/>
            <a:chExt cx="1051560" cy="1051560"/>
          </a:xfrm>
        </p:grpSpPr>
        <p:sp>
          <p:nvSpPr>
            <p:cNvPr id="81" name="Google Shape;81;p9"/>
            <p:cNvSpPr/>
            <p:nvPr/>
          </p:nvSpPr>
          <p:spPr>
            <a:xfrm>
              <a:off x="822960" y="1417320"/>
              <a:ext cx="1051560" cy="1051560"/>
            </a:xfrm>
            <a:prstGeom prst="ellipse">
              <a:avLst/>
            </a:prstGeom>
            <a:solidFill>
              <a:srgbClr val="1E276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2" name="Google Shape;82;p9" descr="/home/claude/icon_comparison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3272" y="1627632"/>
              <a:ext cx="630936" cy="6309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3" name="Google Shape;83;p9"/>
          <p:cNvSpPr/>
          <p:nvPr/>
        </p:nvSpPr>
        <p:spPr>
          <a:xfrm>
            <a:off x="822960" y="1726772"/>
            <a:ext cx="4085924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Comparison Study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822960" y="2385458"/>
            <a:ext cx="3957587" cy="457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700"/>
              <a:buFont typeface="Calibri"/>
              <a:buNone/>
            </a:pPr>
            <a:r>
              <a:rPr lang="en-US" sz="1700" b="0" i="1" u="none" strike="noStrike" cap="none" dirty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Benchmarking against existing methods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" name="Google Shape;85;p9"/>
          <p:cNvCxnSpPr>
            <a:cxnSpLocks/>
          </p:cNvCxnSpPr>
          <p:nvPr/>
        </p:nvCxnSpPr>
        <p:spPr>
          <a:xfrm>
            <a:off x="822960" y="2858694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9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F1BDBD-C385-DA8D-F2E9-E91B0FC688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9196" y="1078992"/>
            <a:ext cx="6404510" cy="49944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C4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0"/>
          <p:cNvSpPr/>
          <p:nvPr/>
        </p:nvSpPr>
        <p:spPr>
          <a:xfrm>
            <a:off x="-1828800" y="4206240"/>
            <a:ext cx="5943600" cy="5943600"/>
          </a:xfrm>
          <a:prstGeom prst="ellipse">
            <a:avLst/>
          </a:prstGeom>
          <a:solidFill>
            <a:srgbClr val="1E2761">
              <a:alpha val="60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3C5D99-6855-29B5-41C2-D8FF270CE74A}"/>
              </a:ext>
            </a:extLst>
          </p:cNvPr>
          <p:cNvGrpSpPr/>
          <p:nvPr/>
        </p:nvGrpSpPr>
        <p:grpSpPr>
          <a:xfrm>
            <a:off x="822960" y="868680"/>
            <a:ext cx="1051560" cy="1051560"/>
            <a:chOff x="822960" y="1417320"/>
            <a:chExt cx="1051560" cy="1051560"/>
          </a:xfrm>
        </p:grpSpPr>
        <p:sp>
          <p:nvSpPr>
            <p:cNvPr id="94" name="Google Shape;94;p10"/>
            <p:cNvSpPr/>
            <p:nvPr/>
          </p:nvSpPr>
          <p:spPr>
            <a:xfrm>
              <a:off x="822960" y="1417320"/>
              <a:ext cx="1051560" cy="1051560"/>
            </a:xfrm>
            <a:prstGeom prst="ellipse">
              <a:avLst/>
            </a:prstGeom>
            <a:solidFill>
              <a:srgbClr val="C996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5" name="Google Shape;95;p10" descr="/home/claude/icon_conclusion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33272" y="1627632"/>
              <a:ext cx="630936" cy="63093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6" name="Google Shape;96;p10"/>
          <p:cNvSpPr/>
          <p:nvPr/>
        </p:nvSpPr>
        <p:spPr>
          <a:xfrm>
            <a:off x="822960" y="1847088"/>
            <a:ext cx="580242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sz="4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868680" y="2491742"/>
            <a:ext cx="2962977" cy="457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EB8E0"/>
              </a:buClr>
              <a:buSzPts val="1700"/>
              <a:buFont typeface="Calibri"/>
              <a:buNone/>
            </a:pPr>
            <a:r>
              <a:rPr lang="en-US" sz="1700" b="0" i="1" u="none" strike="noStrike" cap="none" dirty="0">
                <a:solidFill>
                  <a:srgbClr val="AEB8E0"/>
                </a:solidFill>
                <a:latin typeface="Calibri"/>
                <a:ea typeface="Calibri"/>
                <a:cs typeface="Calibri"/>
                <a:sym typeface="Calibri"/>
              </a:rPr>
              <a:t>Summary and directions ahead</a:t>
            </a:r>
            <a:endParaRPr sz="17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10"/>
          <p:cNvCxnSpPr/>
          <p:nvPr/>
        </p:nvCxnSpPr>
        <p:spPr>
          <a:xfrm>
            <a:off x="868680" y="2948941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C9962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" name="Google Shape;99;p10"/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6D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AA6D6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A6D6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9AA6D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7C01B6-BBA4-1F53-38E4-1F9B2A943FF4}"/>
              </a:ext>
            </a:extLst>
          </p:cNvPr>
          <p:cNvSpPr/>
          <p:nvPr/>
        </p:nvSpPr>
        <p:spPr>
          <a:xfrm>
            <a:off x="457199" y="3285271"/>
            <a:ext cx="2610091" cy="13426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/>
              <a:t>5 Research Gaps</a:t>
            </a:r>
            <a:endParaRPr lang="en-IN" sz="25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AD2F4A-623B-2E06-8E99-5BFFA669560E}"/>
              </a:ext>
            </a:extLst>
          </p:cNvPr>
          <p:cNvSpPr/>
          <p:nvPr/>
        </p:nvSpPr>
        <p:spPr>
          <a:xfrm>
            <a:off x="4272678" y="3285271"/>
            <a:ext cx="2610091" cy="13426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/>
              <a:t>3 Algorithmic Extensions</a:t>
            </a:r>
            <a:endParaRPr lang="en-IN" sz="25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0BD8A0C-15CA-D2ED-3BB6-C8D31A19D42A}"/>
              </a:ext>
            </a:extLst>
          </p:cNvPr>
          <p:cNvSpPr/>
          <p:nvPr/>
        </p:nvSpPr>
        <p:spPr>
          <a:xfrm>
            <a:off x="8686800" y="3285271"/>
            <a:ext cx="2610091" cy="134264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/>
              <a:t>1 Proposed Framework</a:t>
            </a:r>
            <a:endParaRPr lang="en-IN" sz="25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58FFE01-000B-B484-A428-9B6481D73508}"/>
              </a:ext>
            </a:extLst>
          </p:cNvPr>
          <p:cNvSpPr/>
          <p:nvPr/>
        </p:nvSpPr>
        <p:spPr>
          <a:xfrm>
            <a:off x="2743200" y="4721821"/>
            <a:ext cx="5943600" cy="76996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NashDQNSleep+</a:t>
            </a:r>
            <a:endParaRPr lang="en-IN" sz="36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A057EE1-3554-031F-7A5C-96D42A3581C5}"/>
              </a:ext>
            </a:extLst>
          </p:cNvPr>
          <p:cNvSpPr/>
          <p:nvPr/>
        </p:nvSpPr>
        <p:spPr>
          <a:xfrm>
            <a:off x="1762244" y="5627860"/>
            <a:ext cx="8158504" cy="4916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Future Work = </a:t>
            </a:r>
            <a:r>
              <a:rPr lang="en-US" sz="2000" i="1" dirty="0"/>
              <a:t>Heterogeneous Nodes </a:t>
            </a:r>
            <a:r>
              <a:rPr lang="en-US" sz="2000" dirty="0"/>
              <a:t>and </a:t>
            </a:r>
            <a:r>
              <a:rPr lang="en-US" sz="2000" i="1" dirty="0"/>
              <a:t>Hardware Validation</a:t>
            </a:r>
            <a:endParaRPr lang="en-IN" sz="2000" i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A5BC32-75FA-C335-0FDB-1AF765370821}"/>
              </a:ext>
            </a:extLst>
          </p:cNvPr>
          <p:cNvSpPr txBox="1"/>
          <p:nvPr/>
        </p:nvSpPr>
        <p:spPr>
          <a:xfrm>
            <a:off x="2984090" y="2625214"/>
            <a:ext cx="6223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/>
              <a:t>THANK YOU</a:t>
            </a:r>
            <a:endParaRPr lang="en-IN" sz="7200" dirty="0"/>
          </a:p>
        </p:txBody>
      </p:sp>
      <p:sp>
        <p:nvSpPr>
          <p:cNvPr id="5" name="Google Shape;86;p9">
            <a:extLst>
              <a:ext uri="{FF2B5EF4-FFF2-40B4-BE49-F238E27FC236}">
                <a16:creationId xmlns:a16="http://schemas.microsoft.com/office/drawing/2014/main" id="{FCCCD38C-4291-180B-390F-A0B7CFEF960E}"/>
              </a:ext>
            </a:extLst>
          </p:cNvPr>
          <p:cNvSpPr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5B72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rgbClr val="5B5B72"/>
                </a:solidFill>
                <a:latin typeface="Calibri"/>
                <a:ea typeface="Calibri"/>
                <a:cs typeface="Calibri"/>
                <a:sym typeface="Calibri"/>
              </a:rPr>
              <a:t>IEEE SMC Student Branch Chapter  •  Kalyani Government Engineering College</a:t>
            </a:r>
            <a:endParaRPr sz="1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1856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</TotalTime>
  <Words>346</Words>
  <Application>Microsoft Office PowerPoint</Application>
  <PresentationFormat>Widescreen</PresentationFormat>
  <Paragraphs>94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swastik basu</cp:lastModifiedBy>
  <cp:revision>7</cp:revision>
  <dcterms:modified xsi:type="dcterms:W3CDTF">2026-08-20T02:45:47Z</dcterms:modified>
</cp:coreProperties>
</file>